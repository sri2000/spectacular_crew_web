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Manrope" panose="020B0604020202020204" charset="0"/>
      <p:regular r:id="rId14"/>
      <p:bold r:id="rId15"/>
    </p:embeddedFont>
    <p:embeddedFont>
      <p:font typeface="Manrope SemiBold" panose="020B0604020202020204"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3" d="100"/>
          <a:sy n="133" d="100"/>
        </p:scale>
        <p:origin x="98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b6c7e62156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3b6c7e6215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b6c7e62156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b6c7e62156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b6c7e6215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b6c7e6215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b6c7e62156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b6c7e62156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b6c7e62156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b6c7e62156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b6c7e62156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b6c7e62156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b6c7e62156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b6c7e62156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b6c7e62156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b6c7e62156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b6c7e62156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b6c7e62156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b6c7e62156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b6c7e6215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Artscfghgboard – 5.png"/>
          <p:cNvPicPr preferRelativeResize="0"/>
          <p:nvPr/>
        </p:nvPicPr>
        <p:blipFill>
          <a:blip r:embed="rId3">
            <a:alphaModFix/>
          </a:blip>
          <a:stretch>
            <a:fillRect/>
          </a:stretch>
        </p:blipFill>
        <p:spPr>
          <a:xfrm>
            <a:off x="0" y="0"/>
            <a:ext cx="9144018" cy="5143501"/>
          </a:xfrm>
          <a:prstGeom prst="rect">
            <a:avLst/>
          </a:prstGeom>
          <a:noFill/>
          <a:ln>
            <a:noFill/>
          </a:ln>
        </p:spPr>
      </p:pic>
      <p:sp>
        <p:nvSpPr>
          <p:cNvPr id="55" name="Google Shape;55;p13"/>
          <p:cNvSpPr txBox="1"/>
          <p:nvPr/>
        </p:nvSpPr>
        <p:spPr>
          <a:xfrm>
            <a:off x="383675" y="3446998"/>
            <a:ext cx="8520600" cy="443700"/>
          </a:xfrm>
          <a:prstGeom prst="rect">
            <a:avLst/>
          </a:prstGeom>
          <a:noFill/>
          <a:ln>
            <a:noFill/>
          </a:ln>
        </p:spPr>
        <p:txBody>
          <a:bodyPr spcFirstLastPara="1" wrap="square" lIns="91425" tIns="91425" rIns="91425" bIns="91425" anchor="t" anchorCtr="0">
            <a:normAutofit/>
          </a:bodyPr>
          <a:lstStyle/>
          <a:p>
            <a:pPr marL="0" lvl="0" indent="0" algn="l" rtl="0">
              <a:lnSpc>
                <a:spcPct val="80000"/>
              </a:lnSpc>
              <a:spcBef>
                <a:spcPts val="0"/>
              </a:spcBef>
              <a:spcAft>
                <a:spcPts val="0"/>
              </a:spcAft>
              <a:buNone/>
            </a:pPr>
            <a:r>
              <a:rPr lang="en-GB" sz="1600" dirty="0">
                <a:solidFill>
                  <a:srgbClr val="202729"/>
                </a:solidFill>
                <a:latin typeface="Manrope SemiBold"/>
                <a:ea typeface="Manrope SemiBold"/>
                <a:cs typeface="Manrope SemiBold"/>
                <a:sym typeface="Manrope SemiBold"/>
              </a:rPr>
              <a:t>Team Name : Spectacular Crew</a:t>
            </a:r>
            <a:endParaRPr sz="1600" dirty="0">
              <a:solidFill>
                <a:srgbClr val="202729"/>
              </a:solidFill>
              <a:latin typeface="Manrope SemiBold"/>
              <a:ea typeface="Manrope SemiBold"/>
              <a:cs typeface="Manrope SemiBold"/>
              <a:sym typeface="Manrope SemiBold"/>
            </a:endParaRPr>
          </a:p>
        </p:txBody>
      </p:sp>
      <p:sp>
        <p:nvSpPr>
          <p:cNvPr id="56" name="Google Shape;56;p13"/>
          <p:cNvSpPr txBox="1"/>
          <p:nvPr/>
        </p:nvSpPr>
        <p:spPr>
          <a:xfrm>
            <a:off x="383680" y="4298160"/>
            <a:ext cx="8520600" cy="408600"/>
          </a:xfrm>
          <a:prstGeom prst="rect">
            <a:avLst/>
          </a:prstGeom>
          <a:noFill/>
          <a:ln>
            <a:noFill/>
          </a:ln>
        </p:spPr>
        <p:txBody>
          <a:bodyPr spcFirstLastPara="1" wrap="square" lIns="91425" tIns="91425" rIns="91425" bIns="91425" anchor="t" anchorCtr="0">
            <a:normAutofit/>
          </a:bodyPr>
          <a:lstStyle/>
          <a:p>
            <a:pPr lvl="0">
              <a:lnSpc>
                <a:spcPct val="70000"/>
              </a:lnSpc>
            </a:pPr>
            <a:r>
              <a:rPr lang="en-GB" sz="1600" dirty="0">
                <a:solidFill>
                  <a:srgbClr val="202729"/>
                </a:solidFill>
                <a:latin typeface="Manrope SemiBold"/>
                <a:ea typeface="Manrope SemiBold"/>
                <a:cs typeface="Manrope SemiBold"/>
                <a:sym typeface="Manrope SemiBold"/>
              </a:rPr>
              <a:t>Problem Statement : </a:t>
            </a:r>
            <a:r>
              <a:rPr lang="en-IN" sz="1600" dirty="0">
                <a:latin typeface="Manrope SemiBold" panose="020B0604020202020204" charset="0"/>
              </a:rPr>
              <a:t>AI for Retail, Commerce &amp; Marketplace Ecosystems</a:t>
            </a:r>
            <a:endParaRPr sz="1600" dirty="0">
              <a:solidFill>
                <a:srgbClr val="202729"/>
              </a:solidFill>
              <a:latin typeface="Manrope SemiBold" panose="020B0604020202020204" charset="0"/>
              <a:ea typeface="Manrope SemiBold"/>
              <a:cs typeface="Manrope SemiBold"/>
              <a:sym typeface="Manrope SemiBold"/>
            </a:endParaRPr>
          </a:p>
        </p:txBody>
      </p:sp>
      <p:sp>
        <p:nvSpPr>
          <p:cNvPr id="57" name="Google Shape;57;p13"/>
          <p:cNvSpPr txBox="1"/>
          <p:nvPr/>
        </p:nvSpPr>
        <p:spPr>
          <a:xfrm>
            <a:off x="383663" y="3854458"/>
            <a:ext cx="8520600" cy="443700"/>
          </a:xfrm>
          <a:prstGeom prst="rect">
            <a:avLst/>
          </a:prstGeom>
          <a:noFill/>
          <a:ln>
            <a:noFill/>
          </a:ln>
        </p:spPr>
        <p:txBody>
          <a:bodyPr spcFirstLastPara="1" wrap="square" lIns="91425" tIns="91425" rIns="91425" bIns="91425" anchor="t" anchorCtr="0">
            <a:normAutofit/>
          </a:bodyPr>
          <a:lstStyle/>
          <a:p>
            <a:pPr lvl="0">
              <a:lnSpc>
                <a:spcPct val="80000"/>
              </a:lnSpc>
            </a:pPr>
            <a:r>
              <a:rPr lang="en-GB" sz="1600" dirty="0">
                <a:solidFill>
                  <a:srgbClr val="202729"/>
                </a:solidFill>
                <a:latin typeface="Manrope SemiBold"/>
                <a:ea typeface="Manrope SemiBold"/>
                <a:cs typeface="Manrope SemiBold"/>
                <a:sym typeface="Manrope SemiBold"/>
              </a:rPr>
              <a:t>Team Leader Name : Sriram Karanam</a:t>
            </a: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3" name="Google Shape;63;p14"/>
          <p:cNvSpPr txBox="1"/>
          <p:nvPr/>
        </p:nvSpPr>
        <p:spPr>
          <a:xfrm>
            <a:off x="117764" y="670472"/>
            <a:ext cx="2403000" cy="465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935"/>
              <a:buNone/>
            </a:pPr>
            <a:r>
              <a:rPr lang="en-GB" sz="1800" b="1" dirty="0">
                <a:solidFill>
                  <a:srgbClr val="202729"/>
                </a:solidFill>
                <a:latin typeface="Arial" panose="020B0604020202020204" pitchFamily="34" charset="0"/>
                <a:ea typeface="Manrope"/>
                <a:cs typeface="Arial" panose="020B0604020202020204" pitchFamily="34" charset="0"/>
                <a:sym typeface="Manrope"/>
              </a:rPr>
              <a:t>Brief about the Idea:</a:t>
            </a:r>
            <a:endParaRPr sz="1800" b="1" dirty="0">
              <a:solidFill>
                <a:srgbClr val="202729"/>
              </a:solidFill>
              <a:latin typeface="Arial" panose="020B0604020202020204" pitchFamily="34" charset="0"/>
              <a:ea typeface="Manrope"/>
              <a:cs typeface="Arial" panose="020B0604020202020204" pitchFamily="34" charset="0"/>
              <a:sym typeface="Manrope"/>
            </a:endParaRPr>
          </a:p>
        </p:txBody>
      </p:sp>
      <p:sp>
        <p:nvSpPr>
          <p:cNvPr id="2" name="TextBox 1">
            <a:extLst>
              <a:ext uri="{FF2B5EF4-FFF2-40B4-BE49-F238E27FC236}">
                <a16:creationId xmlns:a16="http://schemas.microsoft.com/office/drawing/2014/main" id="{8CA482BD-7067-703D-7F3C-0EF91D875CD5}"/>
              </a:ext>
            </a:extLst>
          </p:cNvPr>
          <p:cNvSpPr txBox="1"/>
          <p:nvPr/>
        </p:nvSpPr>
        <p:spPr>
          <a:xfrm>
            <a:off x="187036" y="1329450"/>
            <a:ext cx="5334000" cy="3388023"/>
          </a:xfrm>
          <a:prstGeom prst="rect">
            <a:avLst/>
          </a:prstGeom>
        </p:spPr>
        <p:txBody>
          <a:bodyPr wrap="square" rtlCol="0">
            <a:spAutoFit/>
          </a:bodyPr>
          <a:lstStyle/>
          <a:p>
            <a:endParaRPr lang="en-IN" dirty="0"/>
          </a:p>
        </p:txBody>
      </p:sp>
      <p:sp>
        <p:nvSpPr>
          <p:cNvPr id="3" name="TextBox 2">
            <a:extLst>
              <a:ext uri="{FF2B5EF4-FFF2-40B4-BE49-F238E27FC236}">
                <a16:creationId xmlns:a16="http://schemas.microsoft.com/office/drawing/2014/main" id="{BF033407-D4E0-7220-1A35-BE286F1FDD60}"/>
              </a:ext>
            </a:extLst>
          </p:cNvPr>
          <p:cNvSpPr txBox="1"/>
          <p:nvPr/>
        </p:nvSpPr>
        <p:spPr>
          <a:xfrm>
            <a:off x="117764" y="1333260"/>
            <a:ext cx="5133110" cy="3654847"/>
          </a:xfrm>
          <a:prstGeom prst="rect">
            <a:avLst/>
          </a:prstGeom>
          <a:noFill/>
        </p:spPr>
        <p:txBody>
          <a:bodyPr wrap="square" rtlCol="0">
            <a:spAutoFit/>
          </a:bodyPr>
          <a:lstStyle/>
          <a:p>
            <a:r>
              <a:rPr lang="en-US" sz="1300" dirty="0">
                <a:latin typeface="Arial" panose="020B0604020202020204" pitchFamily="34" charset="0"/>
                <a:cs typeface="Arial" panose="020B0604020202020204" pitchFamily="34" charset="0"/>
              </a:rPr>
              <a:t>Modern enterprises are highly interconnected across suppliers, products, regions, and systems. While organizations invest heavily in analytics and forecasting, they largely remain </a:t>
            </a:r>
            <a:r>
              <a:rPr lang="en-US" sz="1300" b="1" dirty="0">
                <a:latin typeface="Arial" panose="020B0604020202020204" pitchFamily="34" charset="0"/>
                <a:cs typeface="Arial" panose="020B0604020202020204" pitchFamily="34" charset="0"/>
              </a:rPr>
              <a:t>reactive</a:t>
            </a:r>
            <a:r>
              <a:rPr lang="en-US" sz="1300" dirty="0">
                <a:latin typeface="Arial" panose="020B0604020202020204" pitchFamily="34" charset="0"/>
                <a:cs typeface="Arial" panose="020B0604020202020204" pitchFamily="34" charset="0"/>
              </a:rPr>
              <a:t> to failures such as supplier disruptions, demand shocks, and operational breakdowns. Current systems focus on reporting </a:t>
            </a:r>
            <a:r>
              <a:rPr lang="en-US" sz="1300" i="1" dirty="0">
                <a:latin typeface="Arial" panose="020B0604020202020204" pitchFamily="34" charset="0"/>
                <a:cs typeface="Arial" panose="020B0604020202020204" pitchFamily="34" charset="0"/>
              </a:rPr>
              <a:t>what has already failed</a:t>
            </a:r>
            <a:r>
              <a:rPr lang="en-US" sz="1300" dirty="0">
                <a:latin typeface="Arial" panose="020B0604020202020204" pitchFamily="34" charset="0"/>
                <a:cs typeface="Arial" panose="020B0604020202020204" pitchFamily="34" charset="0"/>
              </a:rPr>
              <a:t> rather than proactively understanding </a:t>
            </a:r>
            <a:r>
              <a:rPr lang="en-US" sz="1300" i="1" dirty="0">
                <a:latin typeface="Arial" panose="020B0604020202020204" pitchFamily="34" charset="0"/>
                <a:cs typeface="Arial" panose="020B0604020202020204" pitchFamily="34" charset="0"/>
              </a:rPr>
              <a:t>how failures propagate</a:t>
            </a:r>
            <a:r>
              <a:rPr lang="en-US" sz="1300" dirty="0">
                <a:latin typeface="Arial" panose="020B0604020202020204" pitchFamily="34" charset="0"/>
                <a:cs typeface="Arial" panose="020B0604020202020204" pitchFamily="34" charset="0"/>
              </a:rPr>
              <a:t> across the organization.</a:t>
            </a:r>
          </a:p>
          <a:p>
            <a:endParaRPr lang="en-US" sz="1300" dirty="0">
              <a:latin typeface="Arial" panose="020B0604020202020204" pitchFamily="34" charset="0"/>
              <a:cs typeface="Arial" panose="020B0604020202020204" pitchFamily="34" charset="0"/>
            </a:endParaRPr>
          </a:p>
          <a:p>
            <a:endParaRPr lang="en-US" sz="1300" dirty="0">
              <a:latin typeface="Arial" panose="020B0604020202020204" pitchFamily="34" charset="0"/>
              <a:cs typeface="Arial" panose="020B0604020202020204" pitchFamily="34" charset="0"/>
            </a:endParaRPr>
          </a:p>
          <a:p>
            <a:r>
              <a:rPr lang="en-US" sz="1300" dirty="0">
                <a:latin typeface="Arial" panose="020B0604020202020204" pitchFamily="34" charset="0"/>
                <a:cs typeface="Arial" panose="020B0604020202020204" pitchFamily="34" charset="0"/>
              </a:rPr>
              <a:t>The </a:t>
            </a:r>
            <a:r>
              <a:rPr lang="en-US" sz="1300" b="1" dirty="0">
                <a:latin typeface="Arial" panose="020B0604020202020204" pitchFamily="34" charset="0"/>
                <a:cs typeface="Arial" panose="020B0604020202020204" pitchFamily="34" charset="0"/>
              </a:rPr>
              <a:t>AI Failure Simulator &amp; Resilience Intelligence Platform</a:t>
            </a:r>
            <a:r>
              <a:rPr lang="en-US" sz="1300" dirty="0">
                <a:latin typeface="Arial" panose="020B0604020202020204" pitchFamily="34" charset="0"/>
                <a:cs typeface="Arial" panose="020B0604020202020204" pitchFamily="34" charset="0"/>
              </a:rPr>
              <a:t> addresses this gap by enabling </a:t>
            </a:r>
            <a:r>
              <a:rPr lang="en-US" sz="1300" b="1" dirty="0">
                <a:latin typeface="Arial" panose="020B0604020202020204" pitchFamily="34" charset="0"/>
                <a:cs typeface="Arial" panose="020B0604020202020204" pitchFamily="34" charset="0"/>
              </a:rPr>
              <a:t>pre‑mortem stress testing of enterprise decisions</a:t>
            </a:r>
            <a:r>
              <a:rPr lang="en-US" sz="1300" dirty="0">
                <a:latin typeface="Arial" panose="020B0604020202020204" pitchFamily="34" charset="0"/>
                <a:cs typeface="Arial" panose="020B0604020202020204" pitchFamily="34" charset="0"/>
              </a:rPr>
              <a:t>. The platform allows teams to simulate realistic failure scenarios before execution, analyze cascading impacts across operations and revenue, and receive AI‑assisted explanations and resilience recommendations. This helps leadership anticipate risks, understand failure propagation, and make informed, resilient decisions.</a:t>
            </a:r>
          </a:p>
          <a:p>
            <a:endParaRPr lang="en-IN" sz="1050" dirty="0">
              <a:latin typeface="Manrope" panose="020B0604020202020204" charset="0"/>
            </a:endParaRPr>
          </a:p>
        </p:txBody>
      </p:sp>
      <p:pic>
        <p:nvPicPr>
          <p:cNvPr id="5" name="Picture 4">
            <a:extLst>
              <a:ext uri="{FF2B5EF4-FFF2-40B4-BE49-F238E27FC236}">
                <a16:creationId xmlns:a16="http://schemas.microsoft.com/office/drawing/2014/main" id="{5E6E2105-0AFA-F308-386B-5B328CA11DCC}"/>
              </a:ext>
            </a:extLst>
          </p:cNvPr>
          <p:cNvPicPr>
            <a:picLocks noChangeAspect="1"/>
          </p:cNvPicPr>
          <p:nvPr/>
        </p:nvPicPr>
        <p:blipFill>
          <a:blip r:embed="rId4"/>
          <a:srcRect t="6330" b="8283"/>
          <a:stretch>
            <a:fillRect/>
          </a:stretch>
        </p:blipFill>
        <p:spPr>
          <a:xfrm>
            <a:off x="5318230" y="1385455"/>
            <a:ext cx="3758432" cy="333201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69" name="Google Shape;69;p15"/>
          <p:cNvSpPr txBox="1"/>
          <p:nvPr/>
        </p:nvSpPr>
        <p:spPr>
          <a:xfrm>
            <a:off x="311699" y="863550"/>
            <a:ext cx="8631409" cy="3992468"/>
          </a:xfrm>
          <a:prstGeom prst="rect">
            <a:avLst/>
          </a:prstGeom>
          <a:noFill/>
          <a:ln>
            <a:noFill/>
          </a:ln>
        </p:spPr>
        <p:txBody>
          <a:bodyPr spcFirstLastPara="1" wrap="square" lIns="91425" tIns="91425" rIns="91425" bIns="91425" anchor="t" anchorCtr="0">
            <a:normAutofit fontScale="92500" lnSpcReduction="20000"/>
          </a:bodyPr>
          <a:lstStyle/>
          <a:p>
            <a:r>
              <a:rPr lang="en-US" b="1" dirty="0"/>
              <a:t>How is it different from existing ideas?</a:t>
            </a:r>
          </a:p>
          <a:p>
            <a:endParaRPr lang="en-US" b="1" dirty="0"/>
          </a:p>
          <a:p>
            <a:pPr marL="285750" indent="-285750">
              <a:buFont typeface="Arial" panose="020B0604020202020204" pitchFamily="34" charset="0"/>
              <a:buChar char="•"/>
            </a:pPr>
            <a:r>
              <a:rPr lang="en-US" dirty="0"/>
              <a:t>Existing solutions focus on </a:t>
            </a:r>
            <a:r>
              <a:rPr lang="en-US" b="1" dirty="0"/>
              <a:t>forecasting success metrics</a:t>
            </a:r>
            <a:r>
              <a:rPr lang="en-US" dirty="0"/>
              <a:t> or </a:t>
            </a:r>
            <a:r>
              <a:rPr lang="en-US" b="1" dirty="0"/>
              <a:t>post‑incident analysis</a:t>
            </a:r>
            <a:endParaRPr lang="en-US" dirty="0"/>
          </a:p>
          <a:p>
            <a:pPr marL="285750" indent="-285750">
              <a:buFont typeface="Arial" panose="020B0604020202020204" pitchFamily="34" charset="0"/>
              <a:buChar char="•"/>
            </a:pPr>
            <a:r>
              <a:rPr lang="en-US" dirty="0"/>
              <a:t>Our solution focuses on </a:t>
            </a:r>
            <a:r>
              <a:rPr lang="en-US" b="1" dirty="0"/>
              <a:t>failure‑first intelligence (pre‑mortem analysis)</a:t>
            </a:r>
            <a:endParaRPr lang="en-US" dirty="0"/>
          </a:p>
          <a:p>
            <a:pPr marL="285750" indent="-285750">
              <a:buFont typeface="Arial" panose="020B0604020202020204" pitchFamily="34" charset="0"/>
              <a:buChar char="•"/>
            </a:pPr>
            <a:r>
              <a:rPr lang="en-US" dirty="0"/>
              <a:t>Introduces </a:t>
            </a:r>
            <a:r>
              <a:rPr lang="en-US" b="1" dirty="0"/>
              <a:t>Failure Propagation Analysis</a:t>
            </a:r>
            <a:r>
              <a:rPr lang="en-US" dirty="0"/>
              <a:t> instead of isolated risk scoring</a:t>
            </a:r>
          </a:p>
          <a:p>
            <a:pPr marL="285750" indent="-285750">
              <a:buFont typeface="Arial" panose="020B0604020202020204" pitchFamily="34" charset="0"/>
              <a:buChar char="•"/>
            </a:pPr>
            <a:r>
              <a:rPr lang="en-US" dirty="0"/>
              <a:t>Uses AI for </a:t>
            </a:r>
            <a:r>
              <a:rPr lang="en-US" b="1" dirty="0"/>
              <a:t>reasoning, explanation, and trade‑off analysis</a:t>
            </a:r>
            <a:r>
              <a:rPr lang="en-US" dirty="0"/>
              <a:t>, not blind automation</a:t>
            </a:r>
          </a:p>
          <a:p>
            <a:pPr marL="285750" indent="-285750">
              <a:buFont typeface="Arial" panose="020B0604020202020204" pitchFamily="34" charset="0"/>
              <a:buChar char="•"/>
            </a:pPr>
            <a:r>
              <a:rPr lang="en-US" dirty="0"/>
              <a:t>Designed as an </a:t>
            </a:r>
            <a:r>
              <a:rPr lang="en-US" b="1" dirty="0"/>
              <a:t>internal decision‑support system</a:t>
            </a:r>
            <a:r>
              <a:rPr lang="en-US" dirty="0"/>
              <a:t>, not a generic chatbot or dashboard</a:t>
            </a:r>
          </a:p>
          <a:p>
            <a:endParaRPr lang="en-US" dirty="0"/>
          </a:p>
          <a:p>
            <a:r>
              <a:rPr lang="en-US" b="1" dirty="0"/>
              <a:t>How will it solve the problem?</a:t>
            </a:r>
          </a:p>
          <a:p>
            <a:endParaRPr lang="en-US" b="1" dirty="0"/>
          </a:p>
          <a:p>
            <a:pPr marL="285750" indent="-285750">
              <a:buFont typeface="Arial" panose="020B0604020202020204" pitchFamily="34" charset="0"/>
              <a:buChar char="•"/>
            </a:pPr>
            <a:r>
              <a:rPr lang="en-US" dirty="0"/>
              <a:t>Simulate failure scenarios (e.g., supplier disruption)</a:t>
            </a:r>
          </a:p>
          <a:p>
            <a:pPr marL="285750" indent="-285750">
              <a:buFont typeface="Arial" panose="020B0604020202020204" pitchFamily="34" charset="0"/>
              <a:buChar char="•"/>
            </a:pPr>
            <a:r>
              <a:rPr lang="en-US" dirty="0"/>
              <a:t>Quantify cascading impacts across products, regions, and revenue</a:t>
            </a:r>
          </a:p>
          <a:p>
            <a:pPr marL="285750" indent="-285750">
              <a:buFont typeface="Arial" panose="020B0604020202020204" pitchFamily="34" charset="0"/>
              <a:buChar char="•"/>
            </a:pPr>
            <a:r>
              <a:rPr lang="en-US" dirty="0"/>
              <a:t>Understand </a:t>
            </a:r>
            <a:r>
              <a:rPr lang="en-US" i="1" dirty="0"/>
              <a:t>why</a:t>
            </a:r>
            <a:r>
              <a:rPr lang="en-US" dirty="0"/>
              <a:t> the impact occurs through AI‑generated explanations</a:t>
            </a:r>
          </a:p>
          <a:p>
            <a:pPr marL="285750" indent="-285750">
              <a:buFont typeface="Arial" panose="020B0604020202020204" pitchFamily="34" charset="0"/>
              <a:buChar char="•"/>
            </a:pPr>
            <a:r>
              <a:rPr lang="en-US" dirty="0"/>
              <a:t>Compare mitigation strategies with clear cost vs risk trade‑offs</a:t>
            </a:r>
          </a:p>
          <a:p>
            <a:pPr marL="285750" indent="-285750">
              <a:buFont typeface="Arial" panose="020B0604020202020204" pitchFamily="34" charset="0"/>
              <a:buChar char="•"/>
            </a:pPr>
            <a:r>
              <a:rPr lang="en-US" dirty="0"/>
              <a:t>Make informed decisions </a:t>
            </a:r>
            <a:r>
              <a:rPr lang="en-US" b="1" dirty="0"/>
              <a:t>before failures happen</a:t>
            </a:r>
            <a:r>
              <a:rPr lang="en-US" dirty="0"/>
              <a:t>, not after</a:t>
            </a:r>
          </a:p>
          <a:p>
            <a:pPr marL="285750" indent="-285750">
              <a:buFont typeface="Arial" panose="020B0604020202020204" pitchFamily="34" charset="0"/>
              <a:buChar char="•"/>
            </a:pPr>
            <a:endParaRPr lang="en-US" dirty="0"/>
          </a:p>
          <a:p>
            <a:r>
              <a:rPr lang="en-US" b="1" dirty="0"/>
              <a:t>USP of the Proposed Solution</a:t>
            </a:r>
          </a:p>
          <a:p>
            <a:endParaRPr lang="en-US" b="1" dirty="0"/>
          </a:p>
          <a:p>
            <a:pPr marL="285750" indent="-285750">
              <a:buFont typeface="Arial" panose="020B0604020202020204" pitchFamily="34" charset="0"/>
              <a:buChar char="•"/>
            </a:pPr>
            <a:r>
              <a:rPr lang="en-US" b="1" dirty="0"/>
              <a:t>Pre‑Mortem Intelligence</a:t>
            </a:r>
            <a:r>
              <a:rPr lang="en-US" dirty="0"/>
              <a:t>: Stress‑tests decisions before execution</a:t>
            </a:r>
          </a:p>
          <a:p>
            <a:pPr marL="285750" indent="-285750">
              <a:buFont typeface="Arial" panose="020B0604020202020204" pitchFamily="34" charset="0"/>
              <a:buChar char="•"/>
            </a:pPr>
            <a:r>
              <a:rPr lang="en-US" b="1" dirty="0"/>
              <a:t>Failure Propagation Score</a:t>
            </a:r>
            <a:r>
              <a:rPr lang="en-US" dirty="0"/>
              <a:t>: Quantifies how far a failure spreads</a:t>
            </a:r>
          </a:p>
          <a:p>
            <a:pPr marL="285750" indent="-285750">
              <a:buFont typeface="Arial" panose="020B0604020202020204" pitchFamily="34" charset="0"/>
              <a:buChar char="•"/>
            </a:pPr>
            <a:r>
              <a:rPr lang="en-US" b="1" dirty="0"/>
              <a:t>Explainable AI Layer</a:t>
            </a:r>
            <a:r>
              <a:rPr lang="en-US" dirty="0"/>
              <a:t>: Executive‑friendly reasoning, not black‑box ML</a:t>
            </a:r>
          </a:p>
          <a:p>
            <a:pPr marL="285750" indent="-285750">
              <a:buFont typeface="Arial" panose="020B0604020202020204" pitchFamily="34" charset="0"/>
              <a:buChar char="•"/>
            </a:pPr>
            <a:r>
              <a:rPr lang="en-US" b="1" dirty="0"/>
              <a:t>Enterprise‑Grade Design</a:t>
            </a:r>
            <a:r>
              <a:rPr lang="en-US" dirty="0"/>
              <a:t>: Modular, configurable, responsible AI usage</a:t>
            </a:r>
          </a:p>
          <a:p>
            <a:pPr marL="285750" indent="-285750">
              <a:buFont typeface="Arial" panose="020B0604020202020204" pitchFamily="34" charset="0"/>
              <a:buChar char="•"/>
            </a:pPr>
            <a:r>
              <a:rPr lang="en-US" b="1" dirty="0"/>
              <a:t>Mobile Executive Briefing View</a:t>
            </a:r>
            <a:r>
              <a:rPr lang="en-US" dirty="0"/>
              <a:t>: Risk insights in under 30 seconds</a:t>
            </a:r>
          </a:p>
          <a:p>
            <a:endParaRPr lang="en-US" dirty="0"/>
          </a:p>
          <a:p>
            <a:endParaRPr lang="en-US" dirty="0"/>
          </a:p>
          <a:p>
            <a:pPr marL="0" lvl="0" indent="0" algn="l" rtl="0">
              <a:lnSpc>
                <a:spcPct val="115000"/>
              </a:lnSpc>
              <a:spcBef>
                <a:spcPts val="1200"/>
              </a:spcBef>
              <a:spcAft>
                <a:spcPts val="1200"/>
              </a:spcAft>
              <a:buSzPts val="935"/>
              <a:buNone/>
            </a:pPr>
            <a:endParaRPr sz="1600" dirty="0">
              <a:solidFill>
                <a:srgbClr val="202729"/>
              </a:solidFill>
              <a:latin typeface="Manrope SemiBold"/>
              <a:ea typeface="Manrope SemiBold"/>
              <a:cs typeface="Manrope SemiBold"/>
              <a:sym typeface="Manrope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pic>
        <p:nvPicPr>
          <p:cNvPr id="74" name="Google Shape;74;p16"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75" name="Google Shape;75;p16"/>
          <p:cNvSpPr txBox="1"/>
          <p:nvPr/>
        </p:nvSpPr>
        <p:spPr>
          <a:xfrm>
            <a:off x="311700" y="863550"/>
            <a:ext cx="5527991" cy="3669600"/>
          </a:xfrm>
          <a:prstGeom prst="rect">
            <a:avLst/>
          </a:prstGeom>
          <a:noFill/>
          <a:ln>
            <a:noFill/>
          </a:ln>
        </p:spPr>
        <p:txBody>
          <a:bodyPr spcFirstLastPara="1" wrap="square" lIns="91425" tIns="91425" rIns="91425" bIns="91425" anchor="t" anchorCtr="0">
            <a:normAutofit/>
          </a:bodyPr>
          <a:lstStyle/>
          <a:p>
            <a:r>
              <a:rPr lang="en-US" b="1" dirty="0"/>
              <a:t>List of Features Offered by the Solution</a:t>
            </a:r>
          </a:p>
          <a:p>
            <a:endParaRPr lang="en-US" b="1" dirty="0"/>
          </a:p>
          <a:p>
            <a:pPr marL="285750" indent="-285750">
              <a:buFont typeface="Arial" panose="020B0604020202020204" pitchFamily="34" charset="0"/>
              <a:buChar char="•"/>
            </a:pPr>
            <a:r>
              <a:rPr lang="en-US" dirty="0"/>
              <a:t>Failure scenario configuration (supplier, demand, infrastructure)</a:t>
            </a:r>
          </a:p>
          <a:p>
            <a:pPr marL="285750" indent="-285750">
              <a:buFont typeface="Arial" panose="020B0604020202020204" pitchFamily="34" charset="0"/>
              <a:buChar char="•"/>
            </a:pPr>
            <a:r>
              <a:rPr lang="en-US" dirty="0"/>
              <a:t>Cascading impact simulation across dependencies</a:t>
            </a:r>
          </a:p>
          <a:p>
            <a:pPr marL="285750" indent="-285750">
              <a:buFont typeface="Arial" panose="020B0604020202020204" pitchFamily="34" charset="0"/>
              <a:buChar char="•"/>
            </a:pPr>
            <a:r>
              <a:rPr lang="en-US" dirty="0"/>
              <a:t>Failure Propagation Score (risk spread metric)</a:t>
            </a:r>
          </a:p>
          <a:p>
            <a:pPr marL="285750" indent="-285750">
              <a:buFont typeface="Arial" panose="020B0604020202020204" pitchFamily="34" charset="0"/>
              <a:buChar char="•"/>
            </a:pPr>
            <a:r>
              <a:rPr lang="en-US" dirty="0"/>
              <a:t>AI‑generated executive explanations</a:t>
            </a:r>
          </a:p>
          <a:p>
            <a:pPr marL="285750" indent="-285750">
              <a:buFont typeface="Arial" panose="020B0604020202020204" pitchFamily="34" charset="0"/>
              <a:buChar char="•"/>
            </a:pPr>
            <a:r>
              <a:rPr lang="en-US" dirty="0"/>
              <a:t>Resilience &amp; mitigation recommendation engine</a:t>
            </a:r>
          </a:p>
          <a:p>
            <a:pPr marL="285750" indent="-285750">
              <a:buFont typeface="Arial" panose="020B0604020202020204" pitchFamily="34" charset="0"/>
              <a:buChar char="•"/>
            </a:pPr>
            <a:r>
              <a:rPr lang="en-US" dirty="0"/>
              <a:t>Web dashboard for analysts and ops teams</a:t>
            </a:r>
          </a:p>
          <a:p>
            <a:pPr marL="285750" indent="-285750">
              <a:buFont typeface="Arial" panose="020B0604020202020204" pitchFamily="34" charset="0"/>
              <a:buChar char="•"/>
            </a:pPr>
            <a:r>
              <a:rPr lang="en-US" dirty="0"/>
              <a:t>Mobile‑friendly executive risk summary view</a:t>
            </a:r>
          </a:p>
          <a:p>
            <a:pPr marL="285750" indent="-285750">
              <a:buFont typeface="Arial" panose="020B0604020202020204" pitchFamily="34" charset="0"/>
              <a:buChar char="•"/>
            </a:pPr>
            <a:r>
              <a:rPr lang="en-US" dirty="0"/>
              <a:t>Audit‑friendly and explainable decision logs</a:t>
            </a:r>
          </a:p>
          <a:p>
            <a:pPr marL="0" lvl="0" indent="0" algn="l" rtl="0">
              <a:lnSpc>
                <a:spcPct val="115000"/>
              </a:lnSpc>
              <a:spcBef>
                <a:spcPts val="0"/>
              </a:spcBef>
              <a:spcAft>
                <a:spcPts val="0"/>
              </a:spcAft>
              <a:buSzPts val="935"/>
              <a:buNone/>
            </a:pPr>
            <a:endParaRPr dirty="0">
              <a:solidFill>
                <a:srgbClr val="434343"/>
              </a:solidFill>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7"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1" name="Google Shape;81;p17"/>
          <p:cNvSpPr txBox="1"/>
          <p:nvPr/>
        </p:nvSpPr>
        <p:spPr>
          <a:xfrm>
            <a:off x="311700" y="863550"/>
            <a:ext cx="3858518"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dirty="0">
                <a:solidFill>
                  <a:srgbClr val="202729"/>
                </a:solidFill>
                <a:latin typeface="Manrope"/>
                <a:ea typeface="Manrope"/>
                <a:cs typeface="Manrope"/>
                <a:sym typeface="Manrope"/>
              </a:rPr>
              <a:t>Process flow diagram or Use-case diagram</a:t>
            </a:r>
          </a:p>
          <a:p>
            <a:pPr marL="0" lvl="0" indent="0" algn="l" rtl="0">
              <a:lnSpc>
                <a:spcPct val="115000"/>
              </a:lnSpc>
              <a:spcBef>
                <a:spcPts val="0"/>
              </a:spcBef>
              <a:spcAft>
                <a:spcPts val="0"/>
              </a:spcAft>
              <a:buSzPts val="935"/>
              <a:buNone/>
            </a:pPr>
            <a:endParaRPr sz="1700" b="1" dirty="0">
              <a:solidFill>
                <a:srgbClr val="202729"/>
              </a:solidFill>
              <a:latin typeface="Manrope"/>
              <a:ea typeface="Manrope"/>
              <a:cs typeface="Manrope"/>
              <a:sym typeface="Manrope"/>
            </a:endParaRPr>
          </a:p>
          <a:p>
            <a:pPr marL="342900" indent="-342900">
              <a:buFont typeface="+mj-lt"/>
              <a:buAutoNum type="arabicPeriod"/>
            </a:pPr>
            <a:r>
              <a:rPr lang="en-US" dirty="0"/>
              <a:t>User defines a failure scenario (type, duration, severity)</a:t>
            </a:r>
          </a:p>
          <a:p>
            <a:pPr marL="342900" indent="-342900">
              <a:buFont typeface="+mj-lt"/>
              <a:buAutoNum type="arabicPeriod"/>
            </a:pPr>
            <a:r>
              <a:rPr lang="en-US" dirty="0"/>
              <a:t>Simulation engine evaluates dependencies and operational data</a:t>
            </a:r>
          </a:p>
          <a:p>
            <a:pPr marL="342900" indent="-342900">
              <a:buFont typeface="+mj-lt"/>
              <a:buAutoNum type="arabicPeriod"/>
            </a:pPr>
            <a:r>
              <a:rPr lang="en-US" dirty="0"/>
              <a:t>Cascading impact is calculated across products, regions, revenue</a:t>
            </a:r>
          </a:p>
          <a:p>
            <a:pPr marL="342900" indent="-342900">
              <a:buFont typeface="+mj-lt"/>
              <a:buAutoNum type="arabicPeriod"/>
            </a:pPr>
            <a:r>
              <a:rPr lang="en-US" dirty="0"/>
              <a:t>AI reasoning layer explains impact and highlights key risk drivers</a:t>
            </a:r>
          </a:p>
          <a:p>
            <a:pPr marL="342900" indent="-342900">
              <a:buFont typeface="+mj-lt"/>
              <a:buAutoNum type="arabicPeriod"/>
            </a:pPr>
            <a:r>
              <a:rPr lang="en-US" dirty="0"/>
              <a:t>Recommendation engine compares mitigation strategies</a:t>
            </a:r>
          </a:p>
          <a:p>
            <a:pPr marL="342900" indent="-342900">
              <a:buFont typeface="+mj-lt"/>
              <a:buAutoNum type="arabicPeriod"/>
            </a:pPr>
            <a:r>
              <a:rPr lang="en-US" dirty="0"/>
              <a:t>Insights are surfaced via web dashboard and mobile executive view</a:t>
            </a:r>
          </a:p>
          <a:p>
            <a:pPr marL="0" lvl="0" indent="0" algn="l" rtl="0">
              <a:lnSpc>
                <a:spcPct val="115000"/>
              </a:lnSpc>
              <a:spcBef>
                <a:spcPts val="1200"/>
              </a:spcBef>
              <a:spcAft>
                <a:spcPts val="1200"/>
              </a:spcAft>
              <a:buSzPts val="935"/>
              <a:buNone/>
            </a:pPr>
            <a:endParaRPr dirty="0">
              <a:solidFill>
                <a:srgbClr val="434343"/>
              </a:solidFill>
              <a:latin typeface="Manrope"/>
              <a:ea typeface="Manrope"/>
              <a:cs typeface="Manrope"/>
              <a:sym typeface="Manrope"/>
            </a:endParaRPr>
          </a:p>
        </p:txBody>
      </p:sp>
      <p:pic>
        <p:nvPicPr>
          <p:cNvPr id="2" name="Picture 1">
            <a:extLst>
              <a:ext uri="{FF2B5EF4-FFF2-40B4-BE49-F238E27FC236}">
                <a16:creationId xmlns:a16="http://schemas.microsoft.com/office/drawing/2014/main" id="{84F07165-5468-0A8B-BAEF-9F37DBD96E90}"/>
              </a:ext>
            </a:extLst>
          </p:cNvPr>
          <p:cNvPicPr>
            <a:picLocks noChangeAspect="1"/>
          </p:cNvPicPr>
          <p:nvPr/>
        </p:nvPicPr>
        <p:blipFill>
          <a:blip r:embed="rId4"/>
          <a:stretch>
            <a:fillRect/>
          </a:stretch>
        </p:blipFill>
        <p:spPr>
          <a:xfrm>
            <a:off x="4481918" y="1530927"/>
            <a:ext cx="4350382" cy="257694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8"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87" name="Google Shape;87;p18"/>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935"/>
              <a:buNone/>
            </a:pPr>
            <a:r>
              <a:rPr lang="en-GB" sz="1700" b="1" dirty="0">
                <a:solidFill>
                  <a:srgbClr val="202729"/>
                </a:solidFill>
                <a:latin typeface="Manrope"/>
                <a:ea typeface="Manrope"/>
                <a:cs typeface="Manrope"/>
                <a:sym typeface="Manrope"/>
              </a:rPr>
              <a:t>Wireframes/Mock diagrams of the proposed solution</a:t>
            </a:r>
            <a:endParaRPr dirty="0">
              <a:solidFill>
                <a:srgbClr val="434343"/>
              </a:solidFill>
              <a:latin typeface="Manrope"/>
              <a:ea typeface="Manrope"/>
              <a:cs typeface="Manrope"/>
              <a:sym typeface="Manrope"/>
            </a:endParaRPr>
          </a:p>
        </p:txBody>
      </p:sp>
      <p:pic>
        <p:nvPicPr>
          <p:cNvPr id="2" name="Picture 1">
            <a:extLst>
              <a:ext uri="{FF2B5EF4-FFF2-40B4-BE49-F238E27FC236}">
                <a16:creationId xmlns:a16="http://schemas.microsoft.com/office/drawing/2014/main" id="{44BBF1F2-F214-E220-9482-BB522ED9670F}"/>
              </a:ext>
            </a:extLst>
          </p:cNvPr>
          <p:cNvPicPr>
            <a:picLocks noChangeAspect="1"/>
          </p:cNvPicPr>
          <p:nvPr/>
        </p:nvPicPr>
        <p:blipFill>
          <a:blip r:embed="rId4"/>
          <a:stretch>
            <a:fillRect/>
          </a:stretch>
        </p:blipFill>
        <p:spPr>
          <a:xfrm>
            <a:off x="262511" y="1633253"/>
            <a:ext cx="8411160" cy="2543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9"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3" name="Google Shape;93;p19"/>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a:solidFill>
                  <a:srgbClr val="202729"/>
                </a:solidFill>
                <a:latin typeface="Manrope"/>
                <a:ea typeface="Manrope"/>
                <a:cs typeface="Manrope"/>
                <a:sym typeface="Manrope"/>
              </a:rPr>
              <a:t>Architecture diagram of the proposed solution:</a:t>
            </a:r>
            <a:endParaRPr>
              <a:solidFill>
                <a:srgbClr val="434343"/>
              </a:solidFill>
              <a:latin typeface="Manrope"/>
              <a:ea typeface="Manrope"/>
              <a:cs typeface="Manrope"/>
              <a:sym typeface="Manrope"/>
            </a:endParaRPr>
          </a:p>
        </p:txBody>
      </p:sp>
      <p:pic>
        <p:nvPicPr>
          <p:cNvPr id="4" name="Picture 3">
            <a:extLst>
              <a:ext uri="{FF2B5EF4-FFF2-40B4-BE49-F238E27FC236}">
                <a16:creationId xmlns:a16="http://schemas.microsoft.com/office/drawing/2014/main" id="{7AB19814-CDEA-B66D-FB80-9DCFC4EFE74C}"/>
              </a:ext>
            </a:extLst>
          </p:cNvPr>
          <p:cNvPicPr>
            <a:picLocks noChangeAspect="1"/>
          </p:cNvPicPr>
          <p:nvPr/>
        </p:nvPicPr>
        <p:blipFill>
          <a:blip r:embed="rId4"/>
          <a:srcRect b="7977"/>
          <a:stretch>
            <a:fillRect/>
          </a:stretch>
        </p:blipFill>
        <p:spPr>
          <a:xfrm>
            <a:off x="5436205" y="1407969"/>
            <a:ext cx="3396095" cy="3125181"/>
          </a:xfrm>
          <a:prstGeom prst="rect">
            <a:avLst/>
          </a:prstGeom>
        </p:spPr>
      </p:pic>
      <p:sp>
        <p:nvSpPr>
          <p:cNvPr id="5" name="TextBox 4">
            <a:extLst>
              <a:ext uri="{FF2B5EF4-FFF2-40B4-BE49-F238E27FC236}">
                <a16:creationId xmlns:a16="http://schemas.microsoft.com/office/drawing/2014/main" id="{D71275BB-B49F-9C96-BA0F-5632E3489112}"/>
              </a:ext>
            </a:extLst>
          </p:cNvPr>
          <p:cNvSpPr txBox="1"/>
          <p:nvPr/>
        </p:nvSpPr>
        <p:spPr>
          <a:xfrm>
            <a:off x="311700" y="2198075"/>
            <a:ext cx="4800627" cy="1815882"/>
          </a:xfrm>
          <a:prstGeom prst="rect">
            <a:avLst/>
          </a:prstGeom>
          <a:noFill/>
        </p:spPr>
        <p:txBody>
          <a:bodyPr wrap="square" rtlCol="0">
            <a:spAutoFit/>
          </a:bodyPr>
          <a:lstStyle/>
          <a:p>
            <a:pPr marL="285750" indent="-285750">
              <a:buFont typeface="Arial" panose="020B0604020202020204" pitchFamily="34" charset="0"/>
              <a:buChar char="•"/>
            </a:pPr>
            <a:r>
              <a:rPr lang="en-IN" dirty="0"/>
              <a:t>Web &amp; Mobile UI Layer</a:t>
            </a:r>
          </a:p>
          <a:p>
            <a:pPr marL="285750" indent="-285750">
              <a:buFont typeface="Arial" panose="020B0604020202020204" pitchFamily="34" charset="0"/>
              <a:buChar char="•"/>
            </a:pPr>
            <a:r>
              <a:rPr lang="en-IN" dirty="0"/>
              <a:t>Secure API Gateway (Role‑based access)</a:t>
            </a:r>
          </a:p>
          <a:p>
            <a:pPr marL="285750" indent="-285750">
              <a:buFont typeface="Arial" panose="020B0604020202020204" pitchFamily="34" charset="0"/>
              <a:buChar char="•"/>
            </a:pPr>
            <a:r>
              <a:rPr lang="en-IN" dirty="0"/>
              <a:t>Failure Simulation Engine (rule‑based logic)</a:t>
            </a:r>
          </a:p>
          <a:p>
            <a:pPr marL="285750" indent="-285750">
              <a:buFont typeface="Arial" panose="020B0604020202020204" pitchFamily="34" charset="0"/>
              <a:buChar char="•"/>
            </a:pPr>
            <a:r>
              <a:rPr lang="en-IN" dirty="0"/>
              <a:t>Dependency &amp; Impact Analysis Module</a:t>
            </a:r>
          </a:p>
          <a:p>
            <a:pPr marL="285750" indent="-285750">
              <a:buFont typeface="Arial" panose="020B0604020202020204" pitchFamily="34" charset="0"/>
              <a:buChar char="•"/>
            </a:pPr>
            <a:r>
              <a:rPr lang="en-IN" dirty="0"/>
              <a:t>AI Reasoning &amp; Explanation Engine (LLM)</a:t>
            </a:r>
          </a:p>
          <a:p>
            <a:pPr marL="285750" indent="-285750">
              <a:buFont typeface="Arial" panose="020B0604020202020204" pitchFamily="34" charset="0"/>
              <a:buChar char="•"/>
            </a:pPr>
            <a:r>
              <a:rPr lang="en-IN" dirty="0"/>
              <a:t>Recommendation &amp; Trade‑off Engine</a:t>
            </a:r>
          </a:p>
          <a:p>
            <a:pPr marL="285750" indent="-285750">
              <a:buFont typeface="Arial" panose="020B0604020202020204" pitchFamily="34" charset="0"/>
              <a:buChar char="•"/>
            </a:pPr>
            <a:r>
              <a:rPr lang="en-IN" dirty="0"/>
              <a:t>Synthetic &amp; Public Data Layer</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99" name="Google Shape;99;p20"/>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dirty="0">
                <a:solidFill>
                  <a:srgbClr val="202729"/>
                </a:solidFill>
                <a:latin typeface="Manrope"/>
                <a:ea typeface="Manrope"/>
                <a:cs typeface="Manrope"/>
                <a:sym typeface="Manrope"/>
              </a:rPr>
              <a:t>Technologies to be used in the solution:</a:t>
            </a:r>
          </a:p>
          <a:p>
            <a:pPr marL="0" lvl="0" indent="0" algn="l" rtl="0">
              <a:lnSpc>
                <a:spcPct val="115000"/>
              </a:lnSpc>
              <a:spcBef>
                <a:spcPts val="0"/>
              </a:spcBef>
              <a:spcAft>
                <a:spcPts val="1200"/>
              </a:spcAft>
              <a:buSzPts val="935"/>
              <a:buNone/>
            </a:pPr>
            <a:endParaRPr lang="en-GB" sz="1700" b="1" dirty="0">
              <a:solidFill>
                <a:srgbClr val="202729"/>
              </a:solidFill>
              <a:latin typeface="Manrope"/>
              <a:ea typeface="Manrope"/>
              <a:cs typeface="Manrope"/>
              <a:sym typeface="Manrope"/>
            </a:endParaRPr>
          </a:p>
          <a:p>
            <a:pPr marL="285750" indent="-285750">
              <a:buFont typeface="Arial" panose="020B0604020202020204" pitchFamily="34" charset="0"/>
              <a:buChar char="•"/>
            </a:pPr>
            <a:r>
              <a:rPr lang="en-IN" b="1" dirty="0"/>
              <a:t>Backend:</a:t>
            </a:r>
            <a:r>
              <a:rPr lang="en-IN" dirty="0"/>
              <a:t> Python / </a:t>
            </a:r>
            <a:r>
              <a:rPr lang="en-IN" dirty="0" err="1"/>
              <a:t>FastAPI</a:t>
            </a:r>
            <a:endParaRPr lang="en-IN" dirty="0"/>
          </a:p>
          <a:p>
            <a:pPr marL="285750" indent="-285750">
              <a:buFont typeface="Arial" panose="020B0604020202020204" pitchFamily="34" charset="0"/>
              <a:buChar char="•"/>
            </a:pPr>
            <a:r>
              <a:rPr lang="en-IN" b="1" dirty="0"/>
              <a:t>Frontend: </a:t>
            </a:r>
            <a:r>
              <a:rPr lang="en-IN" dirty="0" err="1"/>
              <a:t>Streamlit</a:t>
            </a:r>
            <a:r>
              <a:rPr lang="en-IN" dirty="0"/>
              <a:t> / React (responsive)</a:t>
            </a:r>
          </a:p>
          <a:p>
            <a:pPr marL="285750" indent="-285750">
              <a:buFont typeface="Arial" panose="020B0604020202020204" pitchFamily="34" charset="0"/>
              <a:buChar char="•"/>
            </a:pPr>
            <a:r>
              <a:rPr lang="en-IN" b="1" dirty="0"/>
              <a:t>AI Layer: </a:t>
            </a:r>
            <a:r>
              <a:rPr lang="en-IN" dirty="0"/>
              <a:t>AWS Bedrock / OpenAI‑compatible LLMs</a:t>
            </a:r>
          </a:p>
          <a:p>
            <a:pPr marL="285750" indent="-285750">
              <a:buFont typeface="Arial" panose="020B0604020202020204" pitchFamily="34" charset="0"/>
              <a:buChar char="•"/>
            </a:pPr>
            <a:r>
              <a:rPr lang="en-IN" b="1" dirty="0"/>
              <a:t>Data Processing: </a:t>
            </a:r>
            <a:r>
              <a:rPr lang="en-IN" dirty="0"/>
              <a:t>Pandas, NumPy</a:t>
            </a:r>
          </a:p>
          <a:p>
            <a:pPr marL="285750" indent="-285750">
              <a:buFont typeface="Arial" panose="020B0604020202020204" pitchFamily="34" charset="0"/>
              <a:buChar char="•"/>
            </a:pPr>
            <a:r>
              <a:rPr lang="en-IN" b="1" dirty="0"/>
              <a:t>Visualization: </a:t>
            </a:r>
            <a:r>
              <a:rPr lang="en-IN" dirty="0" err="1"/>
              <a:t>Plotly</a:t>
            </a:r>
            <a:r>
              <a:rPr lang="en-IN" dirty="0"/>
              <a:t> / Chart libraries</a:t>
            </a:r>
          </a:p>
          <a:p>
            <a:pPr marL="285750" indent="-285750">
              <a:buFont typeface="Arial" panose="020B0604020202020204" pitchFamily="34" charset="0"/>
              <a:buChar char="•"/>
            </a:pPr>
            <a:r>
              <a:rPr lang="en-IN" b="1" dirty="0"/>
              <a:t>Cloud:</a:t>
            </a:r>
            <a:r>
              <a:rPr lang="en-IN" dirty="0"/>
              <a:t> AWS (prototype‑friendly services)</a:t>
            </a:r>
          </a:p>
          <a:p>
            <a:pPr marL="0" lvl="0" indent="0" algn="l" rtl="0">
              <a:lnSpc>
                <a:spcPct val="115000"/>
              </a:lnSpc>
              <a:spcBef>
                <a:spcPts val="0"/>
              </a:spcBef>
              <a:spcAft>
                <a:spcPts val="1200"/>
              </a:spcAft>
              <a:buSzPts val="935"/>
              <a:buNone/>
            </a:pPr>
            <a:endParaRPr dirty="0">
              <a:solidFill>
                <a:srgbClr val="434343"/>
              </a:solidFill>
              <a:latin typeface="Manrope"/>
              <a:ea typeface="Manrope"/>
              <a:cs typeface="Manrope"/>
              <a:sym typeface="Manrop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21"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05" name="Google Shape;105;p21"/>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SzPts val="935"/>
              <a:buNone/>
            </a:pPr>
            <a:r>
              <a:rPr lang="en-GB" sz="1700" b="1" dirty="0">
                <a:solidFill>
                  <a:srgbClr val="202729"/>
                </a:solidFill>
                <a:latin typeface="Manrope"/>
                <a:ea typeface="Manrope"/>
                <a:cs typeface="Manrope"/>
                <a:sym typeface="Manrope"/>
              </a:rPr>
              <a:t>Estimated implementation cost</a:t>
            </a:r>
          </a:p>
          <a:p>
            <a:pPr marL="0" lvl="0" indent="0" algn="l" rtl="0">
              <a:lnSpc>
                <a:spcPct val="115000"/>
              </a:lnSpc>
              <a:spcBef>
                <a:spcPts val="0"/>
              </a:spcBef>
              <a:spcAft>
                <a:spcPts val="1200"/>
              </a:spcAft>
              <a:buSzPts val="935"/>
              <a:buNone/>
            </a:pPr>
            <a:endParaRPr lang="en-GB" sz="1700" b="1" dirty="0">
              <a:solidFill>
                <a:srgbClr val="202729"/>
              </a:solidFill>
              <a:latin typeface="Manrope"/>
              <a:ea typeface="Manrope"/>
              <a:cs typeface="Manrope"/>
              <a:sym typeface="Manrope"/>
            </a:endParaRPr>
          </a:p>
          <a:p>
            <a:pPr marL="285750" indent="-285750">
              <a:buFont typeface="Arial" panose="020B0604020202020204" pitchFamily="34" charset="0"/>
              <a:buChar char="•"/>
            </a:pPr>
            <a:r>
              <a:rPr lang="en-US" b="1" dirty="0"/>
              <a:t>Prototype / POC: </a:t>
            </a:r>
            <a:r>
              <a:rPr lang="en-US" dirty="0"/>
              <a:t>Low cost using synthetic data and managed AI services</a:t>
            </a:r>
          </a:p>
          <a:p>
            <a:pPr marL="285750" indent="-285750">
              <a:buFont typeface="Arial" panose="020B0604020202020204" pitchFamily="34" charset="0"/>
              <a:buChar char="•"/>
            </a:pPr>
            <a:r>
              <a:rPr lang="en-US" dirty="0"/>
              <a:t>Scales incrementally based on enterprise usage and integrations</a:t>
            </a:r>
          </a:p>
          <a:p>
            <a:pPr marL="285750" indent="-285750">
              <a:buFont typeface="Arial" panose="020B0604020202020204" pitchFamily="34" charset="0"/>
              <a:buChar char="•"/>
            </a:pPr>
            <a:r>
              <a:rPr lang="en-US" dirty="0"/>
              <a:t>Designed for cost‑efficient experimentation before production rollout</a:t>
            </a:r>
          </a:p>
          <a:p>
            <a:pPr marL="0" lvl="0" indent="0" algn="l" rtl="0">
              <a:lnSpc>
                <a:spcPct val="115000"/>
              </a:lnSpc>
              <a:spcBef>
                <a:spcPts val="0"/>
              </a:spcBef>
              <a:spcAft>
                <a:spcPts val="1200"/>
              </a:spcAft>
              <a:buSzPts val="935"/>
              <a:buNone/>
            </a:pPr>
            <a:endParaRPr dirty="0">
              <a:solidFill>
                <a:srgbClr val="434343"/>
              </a:solidFill>
              <a:latin typeface="Manrope"/>
              <a:ea typeface="Manrope"/>
              <a:cs typeface="Manrope"/>
              <a:sym typeface="Manrop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22" title="Artboarddfghjk – 6.png"/>
          <p:cNvPicPr preferRelativeResize="0"/>
          <p:nvPr/>
        </p:nvPicPr>
        <p:blipFill rotWithShape="1">
          <a:blip r:embed="rId3">
            <a:alphaModFix/>
          </a:blip>
          <a:srcRect/>
          <a:stretch/>
        </p:blipFill>
        <p:spPr>
          <a:xfrm>
            <a:off x="0" y="0"/>
            <a:ext cx="9144018" cy="5143501"/>
          </a:xfrm>
          <a:prstGeom prst="rect">
            <a:avLst/>
          </a:prstGeom>
          <a:noFill/>
          <a:ln>
            <a:noFill/>
          </a:ln>
        </p:spPr>
      </p:pic>
      <p:sp>
        <p:nvSpPr>
          <p:cNvPr id="111" name="Google Shape;111;p22"/>
          <p:cNvSpPr txBox="1"/>
          <p:nvPr/>
        </p:nvSpPr>
        <p:spPr>
          <a:xfrm>
            <a:off x="311700" y="863550"/>
            <a:ext cx="7531800" cy="3669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Clr>
                <a:srgbClr val="000000"/>
              </a:buClr>
              <a:buSzPts val="935"/>
              <a:buFont typeface="Arial"/>
              <a:buNone/>
            </a:pPr>
            <a:r>
              <a:rPr lang="en-GB" sz="1700" b="1" dirty="0">
                <a:solidFill>
                  <a:srgbClr val="202729"/>
                </a:solidFill>
                <a:latin typeface="Manrope"/>
                <a:ea typeface="Manrope"/>
                <a:cs typeface="Manrope"/>
                <a:sym typeface="Manrope"/>
              </a:rPr>
              <a:t>Add as per the requirements for the hackathon:</a:t>
            </a:r>
          </a:p>
          <a:p>
            <a:pPr marL="0" lvl="0" indent="0" algn="l" rtl="0">
              <a:lnSpc>
                <a:spcPct val="115000"/>
              </a:lnSpc>
              <a:spcBef>
                <a:spcPts val="0"/>
              </a:spcBef>
              <a:spcAft>
                <a:spcPts val="1200"/>
              </a:spcAft>
              <a:buClr>
                <a:srgbClr val="000000"/>
              </a:buClr>
              <a:buSzPts val="935"/>
              <a:buFont typeface="Arial"/>
              <a:buNone/>
            </a:pPr>
            <a:endParaRPr lang="en-GB" sz="1700" b="1" dirty="0">
              <a:solidFill>
                <a:srgbClr val="202729"/>
              </a:solidFill>
              <a:latin typeface="Manrope"/>
              <a:ea typeface="Manrope"/>
              <a:cs typeface="Manrope"/>
              <a:sym typeface="Manrope"/>
            </a:endParaRPr>
          </a:p>
          <a:p>
            <a:pPr marL="285750" indent="-285750">
              <a:buFont typeface="Arial" panose="020B0604020202020204" pitchFamily="34" charset="0"/>
              <a:buChar char="•"/>
            </a:pPr>
            <a:r>
              <a:rPr lang="en-US" dirty="0"/>
              <a:t>Uses </a:t>
            </a:r>
            <a:r>
              <a:rPr lang="en-US" b="1" dirty="0"/>
              <a:t>synthetic and publicly available data only</a:t>
            </a:r>
            <a:endParaRPr lang="en-US" dirty="0"/>
          </a:p>
          <a:p>
            <a:pPr marL="285750" indent="-285750">
              <a:buFont typeface="Arial" panose="020B0604020202020204" pitchFamily="34" charset="0"/>
              <a:buChar char="•"/>
            </a:pPr>
            <a:r>
              <a:rPr lang="en-US" dirty="0"/>
              <a:t>AI is used strictly for </a:t>
            </a:r>
            <a:r>
              <a:rPr lang="en-US" b="1" dirty="0"/>
              <a:t>decision support and explanation</a:t>
            </a:r>
            <a:endParaRPr lang="en-US" dirty="0"/>
          </a:p>
          <a:p>
            <a:pPr marL="285750" indent="-285750">
              <a:buFont typeface="Arial" panose="020B0604020202020204" pitchFamily="34" charset="0"/>
              <a:buChar char="•"/>
            </a:pPr>
            <a:r>
              <a:rPr lang="en-US" dirty="0"/>
              <a:t>Human decision‑makers remain in control</a:t>
            </a:r>
          </a:p>
          <a:p>
            <a:pPr marL="285750" indent="-285750">
              <a:buFont typeface="Arial" panose="020B0604020202020204" pitchFamily="34" charset="0"/>
              <a:buChar char="•"/>
            </a:pPr>
            <a:r>
              <a:rPr lang="en-US" dirty="0"/>
              <a:t>Scope intentionally limited to demonstrate depth over breadth</a:t>
            </a:r>
          </a:p>
          <a:p>
            <a:pPr marL="285750" indent="-285750">
              <a:buFont typeface="Arial" panose="020B0604020202020204" pitchFamily="34" charset="0"/>
              <a:buChar char="•"/>
            </a:pPr>
            <a:r>
              <a:rPr lang="en-US" dirty="0"/>
              <a:t>Architecture supports future expansion across domains</a:t>
            </a:r>
          </a:p>
          <a:p>
            <a:pPr marL="0" lvl="0" indent="0" algn="l" rtl="0">
              <a:lnSpc>
                <a:spcPct val="115000"/>
              </a:lnSpc>
              <a:spcBef>
                <a:spcPts val="0"/>
              </a:spcBef>
              <a:spcAft>
                <a:spcPts val="1200"/>
              </a:spcAft>
              <a:buClr>
                <a:srgbClr val="000000"/>
              </a:buClr>
              <a:buSzPts val="935"/>
              <a:buFont typeface="Arial"/>
              <a:buNone/>
            </a:pPr>
            <a:endParaRPr dirty="0">
              <a:solidFill>
                <a:srgbClr val="434343"/>
              </a:solidFill>
              <a:latin typeface="Manrope"/>
              <a:ea typeface="Manrope"/>
              <a:cs typeface="Manrope"/>
              <a:sym typeface="Manrop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3" title="AI for Bharddat BANNER – 5.png"/>
          <p:cNvPicPr preferRelativeResize="0"/>
          <p:nvPr/>
        </p:nvPicPr>
        <p:blipFill rotWithShape="1">
          <a:blip r:embed="rId3">
            <a:alphaModFix/>
          </a:blip>
          <a:src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667</Words>
  <Application>Microsoft Office PowerPoint</Application>
  <PresentationFormat>On-screen Show (16:9)</PresentationFormat>
  <Paragraphs>79</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Manrope SemiBold</vt:lpstr>
      <vt:lpstr>Arial</vt:lpstr>
      <vt:lpstr>Manrope</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saketh Gurram</dc:creator>
  <cp:lastModifiedBy>saketh Gurram</cp:lastModifiedBy>
  <cp:revision>2</cp:revision>
  <dcterms:modified xsi:type="dcterms:W3CDTF">2026-01-24T13:43:00Z</dcterms:modified>
</cp:coreProperties>
</file>