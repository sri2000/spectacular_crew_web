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7315200" cy="9601200"/>
  <p:embeddedFontLst>
    <p:embeddedFont>
      <p:font typeface="Manrope" panose="020B0604020202020204" charset="0"/>
      <p:regular r:id="rId14"/>
      <p:bold r:id="rId15"/>
    </p:embeddedFont>
    <p:embeddedFont>
      <p:font typeface="Manrope SemiBold"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0" d="100"/>
          <a:sy n="120" d="100"/>
        </p:scale>
        <p:origin x="1344" y="31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0" y="4560570"/>
            <a:ext cx="5852160" cy="4320540"/>
          </a:xfrm>
          <a:prstGeom prst="rect">
            <a:avLst/>
          </a:prstGeom>
          <a:noFill/>
          <a:ln>
            <a:noFill/>
          </a:ln>
        </p:spPr>
        <p:txBody>
          <a:bodyPr spcFirstLastPara="1" wrap="square" lIns="96645" tIns="96645" rIns="96645" bIns="9664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Spectacular Crew</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60"/>
            <a:ext cx="8520600" cy="408600"/>
          </a:xfrm>
          <a:prstGeom prst="rect">
            <a:avLst/>
          </a:prstGeom>
          <a:noFill/>
          <a:ln>
            <a:noFill/>
          </a:ln>
        </p:spPr>
        <p:txBody>
          <a:bodyPr spcFirstLastPara="1" wrap="square" lIns="91425" tIns="91425" rIns="91425" bIns="91425" anchor="t" anchorCtr="0">
            <a:normAutofit/>
          </a:bodyPr>
          <a:lstStyle/>
          <a:p>
            <a:pPr lvl="0">
              <a:lnSpc>
                <a:spcPct val="70000"/>
              </a:lnSpc>
            </a:pPr>
            <a:r>
              <a:rPr lang="en-GB" sz="1600" dirty="0">
                <a:solidFill>
                  <a:srgbClr val="202729"/>
                </a:solidFill>
                <a:latin typeface="Manrope SemiBold"/>
                <a:ea typeface="Manrope SemiBold"/>
                <a:cs typeface="Manrope SemiBold"/>
                <a:sym typeface="Manrope SemiBold"/>
              </a:rPr>
              <a:t>Problem Statement : </a:t>
            </a:r>
            <a:r>
              <a:rPr lang="en-IN" sz="1600" dirty="0">
                <a:latin typeface="Manrope SemiBold" panose="020B0604020202020204" charset="0"/>
              </a:rPr>
              <a:t>AI for Retail, Commerce &amp; Marketplace Ecosystems</a:t>
            </a:r>
            <a:endParaRPr sz="1600" dirty="0">
              <a:solidFill>
                <a:srgbClr val="202729"/>
              </a:solidFill>
              <a:latin typeface="Manrope SemiBold" panose="020B0604020202020204" charset="0"/>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lvl="0">
              <a:lnSpc>
                <a:spcPct val="80000"/>
              </a:lnSpc>
            </a:pPr>
            <a:r>
              <a:rPr lang="en-GB" sz="1600" dirty="0">
                <a:solidFill>
                  <a:srgbClr val="202729"/>
                </a:solidFill>
                <a:latin typeface="Manrope SemiBold"/>
                <a:ea typeface="Manrope SemiBold"/>
                <a:cs typeface="Manrope SemiBold"/>
                <a:sym typeface="Manrope SemiBold"/>
              </a:rPr>
              <a:t>Team Leader Name : Sriram Karanam</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117764" y="670472"/>
            <a:ext cx="2403000" cy="46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sz="1800" b="1" dirty="0">
                <a:solidFill>
                  <a:srgbClr val="202729"/>
                </a:solidFill>
                <a:latin typeface="Arial" panose="020B0604020202020204" pitchFamily="34" charset="0"/>
                <a:ea typeface="Manrope"/>
                <a:cs typeface="Arial" panose="020B0604020202020204" pitchFamily="34" charset="0"/>
                <a:sym typeface="Manrope"/>
              </a:rPr>
              <a:t>Brief about the Idea:</a:t>
            </a:r>
            <a:endParaRPr sz="1800" b="1" dirty="0">
              <a:solidFill>
                <a:srgbClr val="202729"/>
              </a:solidFill>
              <a:latin typeface="Arial" panose="020B0604020202020204" pitchFamily="34" charset="0"/>
              <a:ea typeface="Manrope"/>
              <a:cs typeface="Arial" panose="020B0604020202020204" pitchFamily="34" charset="0"/>
              <a:sym typeface="Manrope"/>
            </a:endParaRPr>
          </a:p>
        </p:txBody>
      </p:sp>
      <p:sp>
        <p:nvSpPr>
          <p:cNvPr id="2" name="TextBox 1">
            <a:extLst>
              <a:ext uri="{FF2B5EF4-FFF2-40B4-BE49-F238E27FC236}">
                <a16:creationId xmlns:a16="http://schemas.microsoft.com/office/drawing/2014/main" id="{8CA482BD-7067-703D-7F3C-0EF91D875CD5}"/>
              </a:ext>
            </a:extLst>
          </p:cNvPr>
          <p:cNvSpPr txBox="1"/>
          <p:nvPr/>
        </p:nvSpPr>
        <p:spPr>
          <a:xfrm>
            <a:off x="187036" y="1329450"/>
            <a:ext cx="5334000" cy="3388023"/>
          </a:xfrm>
          <a:prstGeom prst="rect">
            <a:avLst/>
          </a:prstGeom>
        </p:spPr>
        <p:txBody>
          <a:bodyPr wrap="square" rtlCol="0">
            <a:spAutoFit/>
          </a:bodyPr>
          <a:lstStyle/>
          <a:p>
            <a:endParaRPr lang="en-IN" dirty="0"/>
          </a:p>
        </p:txBody>
      </p:sp>
      <p:sp>
        <p:nvSpPr>
          <p:cNvPr id="3" name="TextBox 2">
            <a:extLst>
              <a:ext uri="{FF2B5EF4-FFF2-40B4-BE49-F238E27FC236}">
                <a16:creationId xmlns:a16="http://schemas.microsoft.com/office/drawing/2014/main" id="{BF033407-D4E0-7220-1A35-BE286F1FDD60}"/>
              </a:ext>
            </a:extLst>
          </p:cNvPr>
          <p:cNvSpPr txBox="1"/>
          <p:nvPr/>
        </p:nvSpPr>
        <p:spPr>
          <a:xfrm>
            <a:off x="117764" y="1333260"/>
            <a:ext cx="5133110" cy="3416320"/>
          </a:xfrm>
          <a:prstGeom prst="rect">
            <a:avLst/>
          </a:prstGeom>
          <a:noFill/>
        </p:spPr>
        <p:txBody>
          <a:bodyPr wrap="square" rtlCol="0">
            <a:spAutoFit/>
          </a:bodyPr>
          <a:lstStyle/>
          <a:p>
            <a:r>
              <a:rPr lang="en-US" sz="1200" dirty="0"/>
              <a:t>Retail and marketplace businesses operate in highly dynamic environments where </a:t>
            </a:r>
            <a:r>
              <a:rPr lang="en-US" sz="1200" b="1" dirty="0"/>
              <a:t>seasonal demand shifts, inventory imbalance, pricing errors, and seller underperformance</a:t>
            </a:r>
            <a:r>
              <a:rPr lang="en-US" sz="1200" dirty="0"/>
              <a:t> can quickly lead to revenue loss and poor customer experience. Most existing retail analytics systems are reactive — they report what has already happened — or focus narrowly on demand forecasting without accounting for downstream business risks.</a:t>
            </a:r>
          </a:p>
          <a:p>
            <a:endParaRPr lang="en-US" sz="1200" dirty="0"/>
          </a:p>
          <a:p>
            <a:r>
              <a:rPr lang="en-US" sz="1200" dirty="0"/>
              <a:t>We propose an </a:t>
            </a:r>
            <a:r>
              <a:rPr lang="en-US" sz="1200" b="1" dirty="0"/>
              <a:t>AI‑powered Retail Failure Simulator &amp; Market Intelligence Platform</a:t>
            </a:r>
            <a:r>
              <a:rPr lang="en-US" sz="1200" dirty="0"/>
              <a:t> that enables </a:t>
            </a:r>
            <a:r>
              <a:rPr lang="en-US" sz="1200" b="1" dirty="0"/>
              <a:t>pre‑emptive decision‑making</a:t>
            </a:r>
            <a:r>
              <a:rPr lang="en-US" sz="1200" dirty="0"/>
              <a:t> by simulating retail failure scenarios such as seasonal demand mismatch, inventory overstock or stockout, and promotion inefficiencies. The system analyzes how these failures propagate across inventory, pricing, fulfilment, and revenue, and delivers </a:t>
            </a:r>
            <a:r>
              <a:rPr lang="en-US" sz="1200" b="1" dirty="0"/>
              <a:t>clear, actionable insights</a:t>
            </a:r>
            <a:r>
              <a:rPr lang="en-US" sz="1200" dirty="0"/>
              <a:t> to retail leaders through a </a:t>
            </a:r>
            <a:r>
              <a:rPr lang="en-US" sz="1200" b="1" dirty="0"/>
              <a:t>mobile‑first executive experience</a:t>
            </a:r>
            <a:r>
              <a:rPr lang="en-US" sz="1200" dirty="0"/>
              <a:t>.</a:t>
            </a:r>
          </a:p>
          <a:p>
            <a:r>
              <a:rPr lang="en-US" sz="1200" dirty="0"/>
              <a:t>This solution helps retailers move from reactive firefighting to </a:t>
            </a:r>
            <a:r>
              <a:rPr lang="en-US" sz="1200" b="1" dirty="0"/>
              <a:t>proactive, risk‑aware market intelligence and decision support</a:t>
            </a:r>
            <a:r>
              <a:rPr lang="en-US" sz="1200" dirty="0"/>
              <a:t>.</a:t>
            </a:r>
          </a:p>
          <a:p>
            <a:endParaRPr lang="en-IN" sz="1200" dirty="0">
              <a:latin typeface="Manrope" panose="020B0604020202020204" charset="0"/>
            </a:endParaRPr>
          </a:p>
        </p:txBody>
      </p:sp>
      <p:pic>
        <p:nvPicPr>
          <p:cNvPr id="6" name="Picture 5">
            <a:extLst>
              <a:ext uri="{FF2B5EF4-FFF2-40B4-BE49-F238E27FC236}">
                <a16:creationId xmlns:a16="http://schemas.microsoft.com/office/drawing/2014/main" id="{1B08CCD4-B89D-F62F-0BF3-AD6779D9A156}"/>
              </a:ext>
            </a:extLst>
          </p:cNvPr>
          <p:cNvPicPr>
            <a:picLocks noChangeAspect="1"/>
          </p:cNvPicPr>
          <p:nvPr/>
        </p:nvPicPr>
        <p:blipFill>
          <a:blip r:embed="rId4"/>
          <a:stretch>
            <a:fillRect/>
          </a:stretch>
        </p:blipFill>
        <p:spPr>
          <a:xfrm>
            <a:off x="5320146" y="1136372"/>
            <a:ext cx="3550227" cy="35502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7200"/>
            <a:ext cx="9144018" cy="5143501"/>
          </a:xfrm>
          <a:prstGeom prst="rect">
            <a:avLst/>
          </a:prstGeom>
          <a:noFill/>
          <a:ln>
            <a:noFill/>
          </a:ln>
        </p:spPr>
      </p:pic>
      <p:sp>
        <p:nvSpPr>
          <p:cNvPr id="69" name="Google Shape;69;p15"/>
          <p:cNvSpPr txBox="1"/>
          <p:nvPr/>
        </p:nvSpPr>
        <p:spPr>
          <a:xfrm>
            <a:off x="256295" y="863550"/>
            <a:ext cx="8631409" cy="3992468"/>
          </a:xfrm>
          <a:prstGeom prst="rect">
            <a:avLst/>
          </a:prstGeom>
          <a:noFill/>
          <a:ln>
            <a:noFill/>
          </a:ln>
        </p:spPr>
        <p:txBody>
          <a:bodyPr spcFirstLastPara="1" wrap="square" lIns="91425" tIns="91425" rIns="91425" bIns="91425" anchor="t" anchorCtr="0">
            <a:normAutofit fontScale="85000" lnSpcReduction="20000"/>
          </a:bodyPr>
          <a:lstStyle/>
          <a:p>
            <a:r>
              <a:rPr lang="en-US" b="1" dirty="0"/>
              <a:t>How is it different from existing ideas?</a:t>
            </a:r>
          </a:p>
          <a:p>
            <a:endParaRPr lang="en-US" b="1" dirty="0"/>
          </a:p>
          <a:p>
            <a:pPr marL="285750" indent="-285750">
              <a:buFont typeface="Arial" panose="020B0604020202020204" pitchFamily="34" charset="0"/>
              <a:buChar char="•"/>
            </a:pPr>
            <a:r>
              <a:rPr lang="en-US" dirty="0"/>
              <a:t>Existing retail solutions focus on </a:t>
            </a:r>
            <a:r>
              <a:rPr lang="en-US" b="1" dirty="0"/>
              <a:t>demand forecasting or dashboards</a:t>
            </a:r>
            <a:endParaRPr lang="en-US" dirty="0"/>
          </a:p>
          <a:p>
            <a:pPr marL="285750" indent="-285750">
              <a:buFont typeface="Arial" panose="020B0604020202020204" pitchFamily="34" charset="0"/>
              <a:buChar char="•"/>
            </a:pPr>
            <a:r>
              <a:rPr lang="en-US" dirty="0"/>
              <a:t>Our solution focuses on </a:t>
            </a:r>
            <a:r>
              <a:rPr lang="en-US" b="1" dirty="0"/>
              <a:t>failure‑first market intelligence</a:t>
            </a:r>
            <a:endParaRPr lang="en-US" dirty="0"/>
          </a:p>
          <a:p>
            <a:pPr marL="285750" indent="-285750">
              <a:buFont typeface="Arial" panose="020B0604020202020204" pitchFamily="34" charset="0"/>
              <a:buChar char="•"/>
            </a:pPr>
            <a:r>
              <a:rPr lang="en-US" dirty="0"/>
              <a:t>Treats seasonal demand changes as </a:t>
            </a:r>
            <a:r>
              <a:rPr lang="en-US" b="1" dirty="0"/>
              <a:t>business risk scenarios</a:t>
            </a:r>
            <a:r>
              <a:rPr lang="en-US" dirty="0"/>
              <a:t>, not just trends</a:t>
            </a:r>
          </a:p>
          <a:p>
            <a:pPr marL="285750" indent="-285750">
              <a:buFont typeface="Arial" panose="020B0604020202020204" pitchFamily="34" charset="0"/>
              <a:buChar char="•"/>
            </a:pPr>
            <a:r>
              <a:rPr lang="en-US" dirty="0"/>
              <a:t>Simulates </a:t>
            </a:r>
            <a:r>
              <a:rPr lang="en-US" b="1" dirty="0"/>
              <a:t>cascading impact</a:t>
            </a:r>
            <a:r>
              <a:rPr lang="en-US" dirty="0"/>
              <a:t> across inventory, pricing, fulfilment, and revenue</a:t>
            </a:r>
          </a:p>
          <a:p>
            <a:pPr marL="285750" indent="-285750">
              <a:buFont typeface="Arial" panose="020B0604020202020204" pitchFamily="34" charset="0"/>
              <a:buChar char="•"/>
            </a:pPr>
            <a:r>
              <a:rPr lang="en-US" dirty="0"/>
              <a:t>Provides </a:t>
            </a:r>
            <a:r>
              <a:rPr lang="en-US" b="1" dirty="0"/>
              <a:t>executive‑ready insights via mobile</a:t>
            </a:r>
            <a:r>
              <a:rPr lang="en-US" dirty="0"/>
              <a:t>, not analyst‑heavy dashboards</a:t>
            </a:r>
          </a:p>
          <a:p>
            <a:pPr marL="285750" indent="-285750">
              <a:buFont typeface="Arial" panose="020B0604020202020204" pitchFamily="34" charset="0"/>
              <a:buChar char="•"/>
            </a:pPr>
            <a:r>
              <a:rPr lang="en-US" dirty="0"/>
              <a:t>AI is used for </a:t>
            </a:r>
            <a:r>
              <a:rPr lang="en-US" b="1" dirty="0"/>
              <a:t>reasoning, explanation, and trade‑off analysis</a:t>
            </a:r>
            <a:r>
              <a:rPr lang="en-US" dirty="0"/>
              <a:t>, not blind automation</a:t>
            </a:r>
          </a:p>
          <a:p>
            <a:endParaRPr lang="en-US" dirty="0"/>
          </a:p>
          <a:p>
            <a:r>
              <a:rPr lang="en-US" b="1" dirty="0"/>
              <a:t>How will it solve the problem?</a:t>
            </a:r>
          </a:p>
          <a:p>
            <a:endParaRPr lang="en-US" b="1" dirty="0"/>
          </a:p>
          <a:p>
            <a:pPr marL="285750" indent="-285750">
              <a:buFont typeface="Arial" panose="020B0604020202020204" pitchFamily="34" charset="0"/>
              <a:buChar char="•"/>
            </a:pPr>
            <a:r>
              <a:rPr lang="en-US" dirty="0"/>
              <a:t>Detect seasonal and market‑driven demand shifts early</a:t>
            </a:r>
          </a:p>
          <a:p>
            <a:pPr marL="285750" indent="-285750">
              <a:buFont typeface="Arial" panose="020B0604020202020204" pitchFamily="34" charset="0"/>
              <a:buChar char="•"/>
            </a:pPr>
            <a:r>
              <a:rPr lang="en-US" dirty="0"/>
              <a:t>Simulate failure scenarios such as overstock or stockout</a:t>
            </a:r>
          </a:p>
          <a:p>
            <a:pPr marL="285750" indent="-285750">
              <a:buFont typeface="Arial" panose="020B0604020202020204" pitchFamily="34" charset="0"/>
              <a:buChar char="•"/>
            </a:pPr>
            <a:r>
              <a:rPr lang="en-US" dirty="0"/>
              <a:t>Quantify business impact (revenue loss, spoilage, missed sales)</a:t>
            </a:r>
          </a:p>
          <a:p>
            <a:pPr marL="285750" indent="-285750">
              <a:buFont typeface="Arial" panose="020B0604020202020204" pitchFamily="34" charset="0"/>
              <a:buChar char="•"/>
            </a:pPr>
            <a:r>
              <a:rPr lang="en-US" dirty="0"/>
              <a:t>Understand </a:t>
            </a:r>
            <a:r>
              <a:rPr lang="en-US" i="1" dirty="0"/>
              <a:t>why</a:t>
            </a:r>
            <a:r>
              <a:rPr lang="en-US" dirty="0"/>
              <a:t> the risk is occurring through AI explanations</a:t>
            </a:r>
          </a:p>
          <a:p>
            <a:pPr marL="285750" indent="-285750">
              <a:buFont typeface="Arial" panose="020B0604020202020204" pitchFamily="34" charset="0"/>
              <a:buChar char="•"/>
            </a:pPr>
            <a:r>
              <a:rPr lang="en-US" dirty="0"/>
              <a:t>Take proactive mitigation actions such as procurement adjustment, targeted promotions, or inventory reallocation</a:t>
            </a:r>
          </a:p>
          <a:p>
            <a:pPr marL="285750" indent="-285750">
              <a:buFont typeface="Arial" panose="020B0604020202020204" pitchFamily="34" charset="0"/>
              <a:buChar char="•"/>
            </a:pPr>
            <a:endParaRPr lang="en-US" dirty="0"/>
          </a:p>
          <a:p>
            <a:r>
              <a:rPr lang="en-US" b="1" dirty="0"/>
              <a:t>USP of the Proposed Solution</a:t>
            </a:r>
          </a:p>
          <a:p>
            <a:endParaRPr lang="en-US" dirty="0"/>
          </a:p>
          <a:p>
            <a:pPr marL="285750" indent="-285750">
              <a:buFont typeface="Arial" panose="020B0604020202020204" pitchFamily="34" charset="0"/>
              <a:buChar char="•"/>
            </a:pPr>
            <a:r>
              <a:rPr lang="en-IN" dirty="0"/>
              <a:t>Failure‑First Market Intelligence (pre‑mortem analysis for retail)</a:t>
            </a:r>
          </a:p>
          <a:p>
            <a:pPr marL="285750" indent="-285750">
              <a:buFont typeface="Arial" panose="020B0604020202020204" pitchFamily="34" charset="0"/>
              <a:buChar char="•"/>
            </a:pPr>
            <a:r>
              <a:rPr lang="en-IN" dirty="0"/>
              <a:t>Seasonal Demand Failure Simulation</a:t>
            </a:r>
          </a:p>
          <a:p>
            <a:pPr marL="285750" indent="-285750">
              <a:buFont typeface="Arial" panose="020B0604020202020204" pitchFamily="34" charset="0"/>
              <a:buChar char="•"/>
            </a:pPr>
            <a:r>
              <a:rPr lang="en-IN" dirty="0"/>
              <a:t>Cascading Impact Analysis (demand → inventory → revenue)</a:t>
            </a:r>
          </a:p>
          <a:p>
            <a:pPr marL="285750" indent="-285750">
              <a:buFont typeface="Arial" panose="020B0604020202020204" pitchFamily="34" charset="0"/>
              <a:buChar char="•"/>
            </a:pPr>
            <a:r>
              <a:rPr lang="en-IN" dirty="0"/>
              <a:t>AI‑Driven Executive Explanations</a:t>
            </a:r>
          </a:p>
          <a:p>
            <a:pPr marL="285750" indent="-285750">
              <a:buFont typeface="Arial" panose="020B0604020202020204" pitchFamily="34" charset="0"/>
              <a:buChar char="•"/>
            </a:pPr>
            <a:r>
              <a:rPr lang="en-IN" dirty="0"/>
              <a:t>Mobile‑First Decision Flow for Retail Leaders</a:t>
            </a:r>
          </a:p>
          <a:p>
            <a:pPr marL="285750" indent="-285750">
              <a:buFont typeface="Arial" panose="020B0604020202020204" pitchFamily="34" charset="0"/>
              <a:buChar char="•"/>
            </a:pPr>
            <a:r>
              <a:rPr lang="en-IN" dirty="0"/>
              <a:t>Human‑in‑the‑Loop, Responsible AI Design</a:t>
            </a:r>
          </a:p>
          <a:p>
            <a:endParaRPr lang="en-US" dirty="0"/>
          </a:p>
          <a:p>
            <a:endParaRPr lang="en-US" dirty="0"/>
          </a:p>
          <a:p>
            <a:pPr marL="0" lvl="0" indent="0" algn="l" rtl="0">
              <a:lnSpc>
                <a:spcPct val="115000"/>
              </a:lnSpc>
              <a:spcBef>
                <a:spcPts val="1200"/>
              </a:spcBef>
              <a:spcAft>
                <a:spcPts val="1200"/>
              </a:spcAft>
              <a:buSzPts val="935"/>
              <a:buNone/>
            </a:pP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311700" y="863550"/>
            <a:ext cx="5527991" cy="3669600"/>
          </a:xfrm>
          <a:prstGeom prst="rect">
            <a:avLst/>
          </a:prstGeom>
          <a:noFill/>
          <a:ln>
            <a:noFill/>
          </a:ln>
        </p:spPr>
        <p:txBody>
          <a:bodyPr spcFirstLastPara="1" wrap="square" lIns="91425" tIns="91425" rIns="91425" bIns="91425" anchor="t" anchorCtr="0">
            <a:normAutofit fontScale="77500" lnSpcReduction="20000"/>
          </a:bodyPr>
          <a:lstStyle/>
          <a:p>
            <a:r>
              <a:rPr lang="en-US" b="1" dirty="0"/>
              <a:t>List of Features Offered by the Solution</a:t>
            </a:r>
          </a:p>
          <a:p>
            <a:endParaRPr lang="en-US" b="1" dirty="0"/>
          </a:p>
          <a:p>
            <a:pPr marL="285750" indent="-285750">
              <a:buFont typeface="Arial" panose="020B0604020202020204" pitchFamily="34" charset="0"/>
              <a:buChar char="•"/>
            </a:pPr>
            <a:r>
              <a:rPr lang="en-IN" dirty="0"/>
              <a:t>Seasonal demand risk detection</a:t>
            </a:r>
          </a:p>
          <a:p>
            <a:pPr marL="285750" indent="-285750">
              <a:buFont typeface="Arial" panose="020B0604020202020204" pitchFamily="34" charset="0"/>
              <a:buChar char="•"/>
            </a:pPr>
            <a:r>
              <a:rPr lang="en-IN" dirty="0"/>
              <a:t>Inventory overstock &amp; stockout simulation</a:t>
            </a:r>
          </a:p>
          <a:p>
            <a:pPr marL="285750" indent="-285750">
              <a:buFont typeface="Arial" panose="020B0604020202020204" pitchFamily="34" charset="0"/>
              <a:buChar char="•"/>
            </a:pPr>
            <a:r>
              <a:rPr lang="en-IN" dirty="0"/>
              <a:t>Retail Failure Propagation Score (risk spread metric)</a:t>
            </a:r>
          </a:p>
          <a:p>
            <a:pPr marL="285750" indent="-285750">
              <a:buFont typeface="Arial" panose="020B0604020202020204" pitchFamily="34" charset="0"/>
              <a:buChar char="•"/>
            </a:pPr>
            <a:r>
              <a:rPr lang="en-IN" dirty="0"/>
              <a:t>AI‑generated 3‑point executive impact summaries</a:t>
            </a:r>
          </a:p>
          <a:p>
            <a:pPr marL="285750" indent="-285750">
              <a:buFont typeface="Arial" panose="020B0604020202020204" pitchFamily="34" charset="0"/>
              <a:buChar char="•"/>
            </a:pPr>
            <a:r>
              <a:rPr lang="en-IN" dirty="0"/>
              <a:t>Market‑aware mitigation recommendations</a:t>
            </a:r>
          </a:p>
          <a:p>
            <a:pPr marL="285750" indent="-285750">
              <a:buFont typeface="Arial" panose="020B0604020202020204" pitchFamily="34" charset="0"/>
              <a:buChar char="•"/>
            </a:pPr>
            <a:r>
              <a:rPr lang="en-IN" dirty="0"/>
              <a:t>Web dashboard for retail planners and analysts</a:t>
            </a:r>
          </a:p>
          <a:p>
            <a:pPr marL="285750" indent="-285750">
              <a:buFont typeface="Arial" panose="020B0604020202020204" pitchFamily="34" charset="0"/>
              <a:buChar char="•"/>
            </a:pPr>
            <a:r>
              <a:rPr lang="en-IN" dirty="0"/>
              <a:t>Mobile app for executives with alert‑driven decision flow</a:t>
            </a:r>
          </a:p>
          <a:p>
            <a:pPr marL="285750" indent="-285750">
              <a:buFont typeface="Arial" panose="020B0604020202020204" pitchFamily="34" charset="0"/>
              <a:buChar char="•"/>
            </a:pPr>
            <a:r>
              <a:rPr lang="en-IN" dirty="0"/>
              <a:t>Explainable, auditable decision support</a:t>
            </a:r>
          </a:p>
          <a:p>
            <a:pPr marL="285750" indent="-285750">
              <a:buFont typeface="Arial" panose="020B0604020202020204" pitchFamily="34" charset="0"/>
              <a:buChar char="•"/>
            </a:pPr>
            <a:endParaRPr lang="en-IN" dirty="0"/>
          </a:p>
          <a:p>
            <a:r>
              <a:rPr lang="en-IN" b="1" dirty="0"/>
              <a:t>Mobile App → Risk Alert Notification → Three‑Point Impact Summary → View Mitigation Options</a:t>
            </a:r>
          </a:p>
          <a:p>
            <a:endParaRPr lang="en-IN" dirty="0"/>
          </a:p>
          <a:p>
            <a:pPr lvl="1"/>
            <a:r>
              <a:rPr lang="en-IN" dirty="0"/>
              <a:t>Revenue risk</a:t>
            </a:r>
          </a:p>
          <a:p>
            <a:pPr lvl="1"/>
            <a:r>
              <a:rPr lang="en-IN" dirty="0"/>
              <a:t>Market reason</a:t>
            </a:r>
          </a:p>
          <a:p>
            <a:pPr lvl="1"/>
            <a:r>
              <a:rPr lang="en-IN" dirty="0"/>
              <a:t>Urgency level</a:t>
            </a:r>
          </a:p>
          <a:p>
            <a:pPr lvl="1"/>
            <a:endParaRPr lang="en-IN" dirty="0"/>
          </a:p>
          <a:p>
            <a:r>
              <a:rPr lang="en-IN" b="1" dirty="0"/>
              <a:t>Mitigation options:</a:t>
            </a:r>
          </a:p>
          <a:p>
            <a:endParaRPr lang="en-IN" b="1" dirty="0"/>
          </a:p>
          <a:p>
            <a:pPr lvl="1"/>
            <a:r>
              <a:rPr lang="en-IN" dirty="0"/>
              <a:t>Reduce procurement</a:t>
            </a:r>
          </a:p>
          <a:p>
            <a:pPr lvl="1"/>
            <a:r>
              <a:rPr lang="en-IN" dirty="0"/>
              <a:t>Promote high‑demand seasonal items</a:t>
            </a:r>
          </a:p>
          <a:p>
            <a:pPr lvl="1"/>
            <a:r>
              <a:rPr lang="en-IN" dirty="0"/>
              <a:t>Reallocate inventory regionally</a:t>
            </a:r>
          </a:p>
          <a:p>
            <a:r>
              <a:rPr lang="en-IN" dirty="0"/>
              <a:t>This enables </a:t>
            </a:r>
            <a:r>
              <a:rPr lang="en-IN" b="1" dirty="0"/>
              <a:t>decision‑making in under 30 seconds</a:t>
            </a:r>
            <a:r>
              <a:rPr lang="en-IN" dirty="0"/>
              <a:t>, without complex dashboards.</a:t>
            </a:r>
          </a:p>
          <a:p>
            <a:endParaRPr lang="en-IN" dirty="0"/>
          </a:p>
          <a:p>
            <a:pPr marL="0" lvl="0" indent="0" algn="l" rtl="0">
              <a:lnSpc>
                <a:spcPct val="115000"/>
              </a:lnSpc>
              <a:spcBef>
                <a:spcPts val="0"/>
              </a:spcBef>
              <a:spcAft>
                <a:spcPts val="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311700" y="863549"/>
            <a:ext cx="3858518" cy="3756941"/>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Process flow diagram or Use-case diagram</a:t>
            </a:r>
          </a:p>
          <a:p>
            <a:pPr marL="0" lvl="0" indent="0" algn="l" rtl="0">
              <a:lnSpc>
                <a:spcPct val="115000"/>
              </a:lnSpc>
              <a:spcBef>
                <a:spcPts val="0"/>
              </a:spcBef>
              <a:spcAft>
                <a:spcPts val="0"/>
              </a:spcAft>
              <a:buSzPts val="935"/>
              <a:buNone/>
            </a:pPr>
            <a:endParaRPr sz="1700" b="1" dirty="0">
              <a:solidFill>
                <a:srgbClr val="202729"/>
              </a:solidFill>
              <a:latin typeface="Manrope"/>
              <a:ea typeface="Manrope"/>
              <a:cs typeface="Manrope"/>
              <a:sym typeface="Manrope"/>
            </a:endParaRPr>
          </a:p>
          <a:p>
            <a:pPr marL="342900" indent="-342900">
              <a:buFont typeface="+mj-lt"/>
              <a:buAutoNum type="arabicPeriod"/>
            </a:pPr>
            <a:r>
              <a:rPr lang="en-US" dirty="0"/>
              <a:t>Market data and seasonal trends are analyzed</a:t>
            </a:r>
          </a:p>
          <a:p>
            <a:pPr marL="342900" indent="-342900">
              <a:buFont typeface="+mj-lt"/>
              <a:buAutoNum type="arabicPeriod"/>
            </a:pPr>
            <a:r>
              <a:rPr lang="en-US" dirty="0"/>
              <a:t>Potential retail failure scenarios are detected</a:t>
            </a:r>
          </a:p>
          <a:p>
            <a:pPr marL="342900" indent="-342900">
              <a:buFont typeface="+mj-lt"/>
              <a:buAutoNum type="arabicPeriod"/>
            </a:pPr>
            <a:r>
              <a:rPr lang="en-US" dirty="0"/>
              <a:t>Failure simulation evaluates cascading business impact</a:t>
            </a:r>
          </a:p>
          <a:p>
            <a:pPr marL="342900" indent="-342900">
              <a:buFont typeface="+mj-lt"/>
              <a:buAutoNum type="arabicPeriod"/>
            </a:pPr>
            <a:r>
              <a:rPr lang="en-US" dirty="0"/>
              <a:t>AI reasoning layer explains causes and risk drivers</a:t>
            </a:r>
          </a:p>
          <a:p>
            <a:pPr marL="342900" indent="-342900">
              <a:buFont typeface="+mj-lt"/>
              <a:buAutoNum type="arabicPeriod"/>
            </a:pPr>
            <a:r>
              <a:rPr lang="en-US" dirty="0"/>
              <a:t>Mitigation strategies are generated with trade‑offs</a:t>
            </a:r>
          </a:p>
          <a:p>
            <a:pPr marL="342900" indent="-342900">
              <a:buFont typeface="+mj-lt"/>
              <a:buAutoNum type="arabicPeriod"/>
            </a:pPr>
            <a:r>
              <a:rPr lang="en-US" dirty="0"/>
              <a:t>Insights are delivered via web dashboard and mobile app</a:t>
            </a: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84F07165-5468-0A8B-BAEF-9F37DBD96E90}"/>
              </a:ext>
            </a:extLst>
          </p:cNvPr>
          <p:cNvPicPr>
            <a:picLocks noChangeAspect="1"/>
          </p:cNvPicPr>
          <p:nvPr/>
        </p:nvPicPr>
        <p:blipFill>
          <a:blip r:embed="rId4"/>
          <a:stretch>
            <a:fillRect/>
          </a:stretch>
        </p:blipFill>
        <p:spPr>
          <a:xfrm>
            <a:off x="4481918" y="1530927"/>
            <a:ext cx="4350382" cy="25769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7" name="Google Shape;87;p18"/>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Wireframes/Mock diagrams of the proposed solution</a:t>
            </a: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44BBF1F2-F214-E220-9482-BB522ED9670F}"/>
              </a:ext>
            </a:extLst>
          </p:cNvPr>
          <p:cNvPicPr>
            <a:picLocks noChangeAspect="1"/>
          </p:cNvPicPr>
          <p:nvPr/>
        </p:nvPicPr>
        <p:blipFill>
          <a:blip r:embed="rId4"/>
          <a:stretch>
            <a:fillRect/>
          </a:stretch>
        </p:blipFill>
        <p:spPr>
          <a:xfrm>
            <a:off x="262511" y="1633253"/>
            <a:ext cx="8411160" cy="2543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a:solidFill>
                  <a:srgbClr val="202729"/>
                </a:solidFill>
                <a:latin typeface="Manrope"/>
                <a:ea typeface="Manrope"/>
                <a:cs typeface="Manrope"/>
                <a:sym typeface="Manrope"/>
              </a:rPr>
              <a:t>Architecture diagram of the proposed solution:</a:t>
            </a:r>
            <a:endParaRPr>
              <a:solidFill>
                <a:srgbClr val="434343"/>
              </a:solidFill>
              <a:latin typeface="Manrope"/>
              <a:ea typeface="Manrope"/>
              <a:cs typeface="Manrope"/>
              <a:sym typeface="Manrope"/>
            </a:endParaRPr>
          </a:p>
        </p:txBody>
      </p:sp>
      <p:sp>
        <p:nvSpPr>
          <p:cNvPr id="5" name="TextBox 4">
            <a:extLst>
              <a:ext uri="{FF2B5EF4-FFF2-40B4-BE49-F238E27FC236}">
                <a16:creationId xmlns:a16="http://schemas.microsoft.com/office/drawing/2014/main" id="{D71275BB-B49F-9C96-BA0F-5632E3489112}"/>
              </a:ext>
            </a:extLst>
          </p:cNvPr>
          <p:cNvSpPr txBox="1"/>
          <p:nvPr/>
        </p:nvSpPr>
        <p:spPr>
          <a:xfrm>
            <a:off x="311700" y="1556087"/>
            <a:ext cx="4800627" cy="2031325"/>
          </a:xfrm>
          <a:prstGeom prst="rect">
            <a:avLst/>
          </a:prstGeom>
          <a:noFill/>
        </p:spPr>
        <p:txBody>
          <a:bodyPr wrap="square" rtlCol="0">
            <a:spAutoFit/>
          </a:bodyPr>
          <a:lstStyle/>
          <a:p>
            <a:pPr marL="285750" indent="-285750">
              <a:buFont typeface="Arial" panose="020B0604020202020204" pitchFamily="34" charset="0"/>
              <a:buChar char="•"/>
            </a:pPr>
            <a:r>
              <a:rPr lang="en-IN" dirty="0"/>
              <a:t>Data Ingestion Layer (sales, inventory, seasonal trends – synthetic/public data)</a:t>
            </a:r>
          </a:p>
          <a:p>
            <a:pPr marL="285750" indent="-285750">
              <a:buFont typeface="Arial" panose="020B0604020202020204" pitchFamily="34" charset="0"/>
              <a:buChar char="•"/>
            </a:pPr>
            <a:r>
              <a:rPr lang="en-IN" dirty="0"/>
              <a:t>Failure Simulation Engine (rule‑based retail logic)</a:t>
            </a:r>
          </a:p>
          <a:p>
            <a:pPr marL="285750" indent="-285750">
              <a:buFont typeface="Arial" panose="020B0604020202020204" pitchFamily="34" charset="0"/>
              <a:buChar char="•"/>
            </a:pPr>
            <a:r>
              <a:rPr lang="en-IN" dirty="0"/>
              <a:t>Impact &amp; Risk Analysis Module</a:t>
            </a:r>
          </a:p>
          <a:p>
            <a:pPr marL="285750" indent="-285750">
              <a:buFont typeface="Arial" panose="020B0604020202020204" pitchFamily="34" charset="0"/>
              <a:buChar char="•"/>
            </a:pPr>
            <a:r>
              <a:rPr lang="en-IN" dirty="0"/>
              <a:t>AI Reasoning &amp; Explanation Engine</a:t>
            </a:r>
          </a:p>
          <a:p>
            <a:pPr marL="285750" indent="-285750">
              <a:buFont typeface="Arial" panose="020B0604020202020204" pitchFamily="34" charset="0"/>
              <a:buChar char="•"/>
            </a:pPr>
            <a:r>
              <a:rPr lang="en-IN" dirty="0"/>
              <a:t>Recommendation &amp; Mitigation Engine</a:t>
            </a:r>
          </a:p>
          <a:p>
            <a:pPr marL="285750" indent="-285750">
              <a:buFont typeface="Arial" panose="020B0604020202020204" pitchFamily="34" charset="0"/>
              <a:buChar char="•"/>
            </a:pPr>
            <a:r>
              <a:rPr lang="en-IN" dirty="0"/>
              <a:t>Web Dashboard (Analyst View)</a:t>
            </a:r>
          </a:p>
          <a:p>
            <a:pPr marL="285750" indent="-285750">
              <a:buFont typeface="Arial" panose="020B0604020202020204" pitchFamily="34" charset="0"/>
              <a:buChar char="•"/>
            </a:pPr>
            <a:r>
              <a:rPr lang="en-IN" dirty="0"/>
              <a:t>Mobile App (Executive View)</a:t>
            </a:r>
          </a:p>
          <a:p>
            <a:endParaRPr lang="en-IN" dirty="0"/>
          </a:p>
        </p:txBody>
      </p:sp>
      <p:pic>
        <p:nvPicPr>
          <p:cNvPr id="2" name="Picture 1">
            <a:extLst>
              <a:ext uri="{FF2B5EF4-FFF2-40B4-BE49-F238E27FC236}">
                <a16:creationId xmlns:a16="http://schemas.microsoft.com/office/drawing/2014/main" id="{0A250F5D-D004-1CB7-2561-323936FCB495}"/>
              </a:ext>
            </a:extLst>
          </p:cNvPr>
          <p:cNvPicPr>
            <a:picLocks noChangeAspect="1"/>
          </p:cNvPicPr>
          <p:nvPr/>
        </p:nvPicPr>
        <p:blipFill>
          <a:blip r:embed="rId4"/>
          <a:stretch>
            <a:fillRect/>
          </a:stretch>
        </p:blipFill>
        <p:spPr>
          <a:xfrm>
            <a:off x="5207576" y="1556087"/>
            <a:ext cx="3839170" cy="20957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Technologies to be used in the solution:</a:t>
            </a:r>
          </a:p>
          <a:p>
            <a:pPr marL="285750" indent="-285750">
              <a:buFont typeface="Arial" panose="020B0604020202020204" pitchFamily="34" charset="0"/>
              <a:buChar char="•"/>
            </a:pPr>
            <a:r>
              <a:rPr lang="en-IN" dirty="0"/>
              <a:t>AWS (Cloud infrastructure)</a:t>
            </a:r>
          </a:p>
          <a:p>
            <a:pPr marL="285750" indent="-285750">
              <a:buFont typeface="Arial" panose="020B0604020202020204" pitchFamily="34" charset="0"/>
              <a:buChar char="•"/>
            </a:pPr>
            <a:r>
              <a:rPr lang="en-IN" dirty="0"/>
              <a:t>Python (</a:t>
            </a:r>
            <a:r>
              <a:rPr lang="en-IN" dirty="0" err="1"/>
              <a:t>FastAPI</a:t>
            </a:r>
            <a:r>
              <a:rPr lang="en-IN" dirty="0"/>
              <a:t> / backend services)</a:t>
            </a:r>
          </a:p>
          <a:p>
            <a:pPr marL="285750" indent="-285750">
              <a:buFont typeface="Arial" panose="020B0604020202020204" pitchFamily="34" charset="0"/>
              <a:buChar char="•"/>
            </a:pPr>
            <a:r>
              <a:rPr lang="en-IN" dirty="0"/>
              <a:t>AI/ML (LLM‑based reasoning)</a:t>
            </a:r>
          </a:p>
          <a:p>
            <a:pPr marL="285750" indent="-285750">
              <a:buFont typeface="Arial" panose="020B0604020202020204" pitchFamily="34" charset="0"/>
              <a:buChar char="•"/>
            </a:pPr>
            <a:r>
              <a:rPr lang="en-IN" dirty="0"/>
              <a:t>Data Processing (Pandas, NumPy)</a:t>
            </a:r>
          </a:p>
          <a:p>
            <a:pPr marL="285750" indent="-285750">
              <a:buFont typeface="Arial" panose="020B0604020202020204" pitchFamily="34" charset="0"/>
              <a:buChar char="•"/>
            </a:pPr>
            <a:r>
              <a:rPr lang="en-IN" dirty="0"/>
              <a:t>Frontend (</a:t>
            </a:r>
            <a:r>
              <a:rPr lang="en-IN" dirty="0" err="1"/>
              <a:t>Streamlit</a:t>
            </a:r>
            <a:r>
              <a:rPr lang="en-IN" dirty="0"/>
              <a:t> / React for web, Flutter mobile‑responsive UI)</a:t>
            </a:r>
          </a:p>
          <a:p>
            <a:pPr marL="285750" indent="-285750">
              <a:buFont typeface="Arial" panose="020B0604020202020204" pitchFamily="34" charset="0"/>
              <a:buChar char="•"/>
            </a:pPr>
            <a:r>
              <a:rPr lang="en-IN" dirty="0"/>
              <a:t>Visualization (Charts &amp; summary views)</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Estimated implementation cost</a:t>
            </a:r>
          </a:p>
          <a:p>
            <a:pPr marL="285750" indent="-285750">
              <a:buFont typeface="Arial" panose="020B0604020202020204" pitchFamily="34" charset="0"/>
              <a:buChar char="•"/>
            </a:pPr>
            <a:r>
              <a:rPr lang="en-US" dirty="0"/>
              <a:t>Low‑cost prototype using synthetic data and managed AI services</a:t>
            </a:r>
          </a:p>
          <a:p>
            <a:pPr marL="285750" indent="-285750">
              <a:buFont typeface="Arial" panose="020B0604020202020204" pitchFamily="34" charset="0"/>
              <a:buChar char="•"/>
            </a:pPr>
            <a:r>
              <a:rPr lang="en-US" dirty="0"/>
              <a:t>Incremental scaling based on retail adoption and integrations</a:t>
            </a:r>
          </a:p>
          <a:p>
            <a:pPr marL="285750" indent="-285750">
              <a:buFont typeface="Arial" panose="020B0604020202020204" pitchFamily="34" charset="0"/>
              <a:buChar char="•"/>
            </a:pPr>
            <a:r>
              <a:rPr lang="en-US" dirty="0"/>
              <a:t>Designed for efficient experimentation before production rollout</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rgbClr val="000000"/>
              </a:buClr>
              <a:buSzPts val="935"/>
              <a:buFont typeface="Arial"/>
              <a:buNone/>
            </a:pPr>
            <a:r>
              <a:rPr lang="en-GB" sz="1700" b="1" dirty="0">
                <a:solidFill>
                  <a:srgbClr val="202729"/>
                </a:solidFill>
                <a:latin typeface="Manrope"/>
                <a:ea typeface="Manrope"/>
                <a:cs typeface="Manrope"/>
                <a:sym typeface="Manrope"/>
              </a:rPr>
              <a:t>Requirements for the hackathon:</a:t>
            </a:r>
          </a:p>
          <a:p>
            <a:pPr marL="285750" indent="-285750">
              <a:buFont typeface="Arial" panose="020B0604020202020204" pitchFamily="34" charset="0"/>
              <a:buChar char="•"/>
            </a:pPr>
            <a:r>
              <a:rPr lang="en-US" dirty="0"/>
              <a:t>Uses </a:t>
            </a:r>
            <a:r>
              <a:rPr lang="en-US" b="1" dirty="0"/>
              <a:t>synthetic and public datasets only</a:t>
            </a:r>
            <a:endParaRPr lang="en-US" dirty="0"/>
          </a:p>
          <a:p>
            <a:pPr marL="285750" indent="-285750">
              <a:buFont typeface="Arial" panose="020B0604020202020204" pitchFamily="34" charset="0"/>
              <a:buChar char="•"/>
            </a:pPr>
            <a:r>
              <a:rPr lang="en-US" dirty="0"/>
              <a:t>AI supports decisions; humans remain in control</a:t>
            </a:r>
          </a:p>
          <a:p>
            <a:pPr marL="285750" indent="-285750">
              <a:buFont typeface="Arial" panose="020B0604020202020204" pitchFamily="34" charset="0"/>
              <a:buChar char="•"/>
            </a:pPr>
            <a:r>
              <a:rPr lang="en-US" dirty="0"/>
              <a:t>Focused prototype to demonstrate depth, clarity, and feasibility</a:t>
            </a:r>
          </a:p>
          <a:p>
            <a:pPr marL="285750" indent="-285750">
              <a:buFont typeface="Arial" panose="020B0604020202020204" pitchFamily="34" charset="0"/>
              <a:buChar char="•"/>
            </a:pPr>
            <a:r>
              <a:rPr lang="en-US" dirty="0"/>
              <a:t>Strong alignment with retail, commerce, and market intelligence goals</a:t>
            </a:r>
          </a:p>
          <a:p>
            <a:pPr marL="0" lvl="0" indent="0" algn="l" rtl="0">
              <a:lnSpc>
                <a:spcPct val="115000"/>
              </a:lnSpc>
              <a:spcBef>
                <a:spcPts val="0"/>
              </a:spcBef>
              <a:spcAft>
                <a:spcPts val="1200"/>
              </a:spcAft>
              <a:buClr>
                <a:srgbClr val="000000"/>
              </a:buClr>
              <a:buSzPts val="935"/>
              <a:buFont typeface="Arial"/>
              <a:buNone/>
            </a:pPr>
            <a:endParaRPr dirty="0">
              <a:solidFill>
                <a:srgbClr val="434343"/>
              </a:solidFill>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734</Words>
  <Application>Microsoft Office PowerPoint</Application>
  <PresentationFormat>On-screen Show (16:9)</PresentationFormat>
  <Paragraphs>90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Manrope</vt:lpstr>
      <vt:lpstr>Manrope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saketh Gurram</dc:creator>
  <cp:lastModifiedBy>saketh Gurram</cp:lastModifiedBy>
  <cp:revision>4</cp:revision>
  <dcterms:modified xsi:type="dcterms:W3CDTF">2026-01-25T06:45:25Z</dcterms:modified>
</cp:coreProperties>
</file>